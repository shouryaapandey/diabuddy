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30-second opener: name the challenge, the condition we twinned and the single sentence value proposition. Then jump straight to the one-pager.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here: this single slide IS the product. Walk the jury left-to-right: brand promise, live twin dashboard for one real synthetic patient, then the engineering evidence band at the bottom. Every number on it is computed by the repo pipeline - nothing is mocked.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pain in 45 seconds: burden numbers, then the structural gap (sparse reactive care), then our one-sentence challenge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mechanics slide. Emphasise the three defining properties of a digital twin and that the engine is 150 lines of inspectable NumPy - a feature, not a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slide. Say the zoo + CV protocol first (rigour), then the two headline metrics, then the twin-augmentation point: latent states as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counselling story. Read the status-quo row aloud, then the combined plan row - the delta is the clinical value of a digital twin.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jury this is a business/health-system plan, not a hackathon artefact: integration rails (ABDM), device economics, pilot design with endpoints.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Pre-empt the hardest jury questions here: privacy, over-reliance, fairness, and what the PoC cannot claim. Confidence comes from stating limits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Q&amp;A ammo on screen - it signals preparedness - then the repo, the video and the thank-you. Pause on the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8FB8F0"/>
                </a:solidFill>
                <a:latin typeface="Segoe UI"/>
              </a:rPr>
              <a:t>HAPPIEST HEALTH · REIMAGINING &amp; REFORMING HEALTHCARE IN INDIA SUMMIT 2026 · DIGITAL TWIN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AarogyaTwin </a:t>
            </a:r>
          </a:p>
          <a:p>
            <a:pPr algn="l">
              <a:spcAft>
                <a:spcPts val="0"/>
              </a:spcAft>
            </a:pPr>
            <a:r>
              <a:rPr sz="4000" b="1">
                <a:solidFill>
                  <a:srgbClr val="6EA8FF"/>
                </a:solidFill>
                <a:latin typeface="Segoe UI"/>
              </a:rPr>
              <a:t>T2D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C9DAF2"/>
                </a:solidFill>
                <a:latin typeface="Segoe UI"/>
              </a:rPr>
              <a:t>Predict. Prevent. Personalise. — a digital twin for 90-day glycaemic deterioration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5176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834640"/>
            <a:ext cx="49377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4335C"/>
                </a:solidFill>
                <a:latin typeface="Segoe UI"/>
              </a:rPr>
              <a:t>Team AarogyaTwin (DTU)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B2A3A"/>
                </a:solidFill>
                <a:latin typeface="Segoe UI"/>
              </a:rPr>
              <a:t>Sarthak · Shoury · Abhay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B7F"/>
                </a:solidFill>
                <a:latin typeface="Segoe UI"/>
              </a:rPr>
              <a:t>Delhi Technological University · DTU-IIF · BBA 2025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651760"/>
            <a:ext cx="53035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834640"/>
            <a:ext cx="48463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4335C"/>
                </a:solidFill>
                <a:latin typeface="Segoe UI"/>
              </a:rPr>
              <a:t>What you will see in 8 minutes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B2A3A"/>
                </a:solidFill>
                <a:latin typeface="Segoe UI"/>
              </a:rPr>
              <a:t>live twin dashboard → twin mechanics → validation numbers →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B2A3A"/>
                </a:solidFill>
                <a:latin typeface="Segoe UI"/>
              </a:rPr>
              <a:t>what-if counselling → India scale-up plan &amp; our 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343400"/>
            <a:ext cx="2724912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4489704"/>
            <a:ext cx="24505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0F766E"/>
                </a:solidFill>
                <a:latin typeface="Segoe UI"/>
              </a:rPr>
              <a:t>0.974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5001768"/>
            <a:ext cx="23957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5B6B7F"/>
                </a:solidFill>
                <a:latin typeface="Segoe UI"/>
              </a:rPr>
              <a:t>AUROC, 90-day deterioration (GroupKFold-5 OOF)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4343400"/>
            <a:ext cx="2724912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4489704"/>
            <a:ext cx="24505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2E6BE6"/>
                </a:solidFill>
                <a:latin typeface="Segoe UI"/>
              </a:rPr>
              <a:t>5.49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5001768"/>
            <a:ext cx="23957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5B6B7F"/>
                </a:solidFill>
                <a:latin typeface="Segoe UI"/>
              </a:rPr>
              <a:t>mg/dL next-day forecast MAE (−18% vs persistence)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343400"/>
            <a:ext cx="2724912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4489704"/>
            <a:ext cx="24505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4335C"/>
                </a:solidFill>
                <a:latin typeface="Segoe UI"/>
              </a:rPr>
              <a:t>400 × 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5001768"/>
            <a:ext cx="23957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5B6B7F"/>
                </a:solidFill>
                <a:latin typeface="Segoe UI"/>
              </a:rPr>
              <a:t>synthetic patients × days, 18.8% event prevalence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1704" y="4343400"/>
            <a:ext cx="2724912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26296" y="4489704"/>
            <a:ext cx="24505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7C3AED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6296" y="5001768"/>
            <a:ext cx="23957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5B6B7F"/>
                </a:solidFill>
                <a:latin typeface="Segoe UI"/>
              </a:rPr>
              <a:t>counterfactual lifestyle scenarios per patient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B7F"/>
                </a:solidFill>
                <a:latin typeface="Segoe UI"/>
              </a:rPr>
              <a:t>Phase-1 Prototype &amp; Code Submission · public GitHub repo · MIT licence · synthetic data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01168"/>
            <a:ext cx="11640312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9184"/>
            <a:ext cx="713232" cy="713232"/>
          </a:xfrm>
          <a:prstGeom prst="roundRect">
            <a:avLst>
              <a:gd name="adj" fmla="val 25000"/>
            </a:avLst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/>
              <a:t>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10896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4335C"/>
                </a:solidFill>
                <a:latin typeface="Segoe UI"/>
              </a:rPr>
              <a:t>AarogyaTwin </a:t>
            </a:r>
          </a:p>
          <a:p>
            <a:pPr algn="l">
              <a:spcAft>
                <a:spcPts val="0"/>
              </a:spcAft>
            </a:pPr>
            <a:r>
              <a:rPr sz="2600" b="1">
                <a:solidFill>
                  <a:srgbClr val="2E6BE6"/>
                </a:solidFill>
                <a:latin typeface="Segoe UI"/>
              </a:rPr>
              <a:t>T2D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786384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B7F"/>
                </a:solidFill>
                <a:latin typeface="Segoe UI"/>
              </a:rPr>
              <a:t>Your Digital Twin for Smarter Glucose Decisions  ·  Predict. Prevent. Personalise.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310896"/>
            <a:ext cx="3566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>
                <a:solidFill>
                  <a:srgbClr val="1B2A3A"/>
                </a:solidFill>
                <a:latin typeface="Segoe UI"/>
              </a:rPr>
              <a:t>An AI-powered digital twin that predicts whether a patient's glucose will cross the high threshold within 90 days - using EHR history plus daily wearable streams (CGM, steps, sleep, heart rate) - and simulates which lifestyle change prevents it.</a:t>
            </a:r>
          </a:p>
        </p:txBody>
      </p:sp>
      <p:sp>
        <p:nvSpPr>
          <p:cNvPr id="7" name="Oval 6"/>
          <p:cNvSpPr/>
          <p:nvPr/>
        </p:nvSpPr>
        <p:spPr>
          <a:xfrm>
            <a:off x="9372600" y="301752"/>
            <a:ext cx="274320" cy="274320"/>
          </a:xfrm>
          <a:prstGeom prst="ellipse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" b="1">
                <a:solidFill>
                  <a:srgbClr val="2E6BE6"/>
                </a:solidFill>
                <a:latin typeface="Segoe UI"/>
              </a:rPr>
              <a:t>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2743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335C"/>
                </a:solidFill>
                <a:latin typeface="Segoe UI"/>
              </a:rPr>
              <a:t>Early Warning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Segoe UI"/>
              </a:rPr>
              <a:t>weeks before the next HbA1c</a:t>
            </a:r>
          </a:p>
        </p:txBody>
      </p:sp>
      <p:sp>
        <p:nvSpPr>
          <p:cNvPr id="9" name="Oval 8"/>
          <p:cNvSpPr/>
          <p:nvPr/>
        </p:nvSpPr>
        <p:spPr>
          <a:xfrm>
            <a:off x="9372600" y="594360"/>
            <a:ext cx="274320" cy="274320"/>
          </a:xfrm>
          <a:prstGeom prst="ellipse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" b="1">
                <a:solidFill>
                  <a:srgbClr val="2E6BE6"/>
                </a:solidFill>
                <a:latin typeface="Segoe UI"/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60" y="56692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335C"/>
                </a:solidFill>
                <a:latin typeface="Segoe UI"/>
              </a:rPr>
              <a:t>Personalised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Segoe UI"/>
              </a:rPr>
              <a:t>what-if simulation per patient</a:t>
            </a:r>
          </a:p>
        </p:txBody>
      </p:sp>
      <p:sp>
        <p:nvSpPr>
          <p:cNvPr id="11" name="Oval 10"/>
          <p:cNvSpPr/>
          <p:nvPr/>
        </p:nvSpPr>
        <p:spPr>
          <a:xfrm>
            <a:off x="9372600" y="886968"/>
            <a:ext cx="274320" cy="274320"/>
          </a:xfrm>
          <a:prstGeom prst="ellipse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" b="1">
                <a:solidFill>
                  <a:srgbClr val="2E6BE6"/>
                </a:solidFill>
                <a:latin typeface="Segoe UI"/>
              </a:rPr>
              <a:t>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859536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335C"/>
                </a:solidFill>
                <a:latin typeface="Segoe UI"/>
              </a:rPr>
              <a:t>Open &amp; Safe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Segoe UI"/>
              </a:rPr>
              <a:t>MIT · synthetic · zero PHI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1298448"/>
            <a:ext cx="11640312" cy="42245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" y="1463040"/>
            <a:ext cx="1700784" cy="3895344"/>
          </a:xfrm>
          <a:prstGeom prst="roundRect">
            <a:avLst>
              <a:gd name="adj" fmla="val 5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1591056"/>
            <a:ext cx="1463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🫀 AarogyaTwin</a:t>
            </a:r>
          </a:p>
          <a:p>
            <a:pPr algn="l">
              <a:spcAft>
                <a:spcPts val="0"/>
              </a:spcAft>
            </a:pPr>
            <a:r>
              <a:rPr sz="800" b="0">
                <a:solidFill>
                  <a:srgbClr val="9FB6D1"/>
                </a:solidFill>
                <a:latin typeface="Segoe UI"/>
              </a:rPr>
              <a:t>     India · T2D twin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002536"/>
            <a:ext cx="1481328" cy="310896"/>
          </a:xfrm>
          <a:prstGeom prst="roundRect">
            <a:avLst>
              <a:gd name="adj" fmla="val 30000"/>
            </a:avLst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202996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239572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9FB6D1"/>
                </a:solidFill>
                <a:latin typeface="Segoe UI"/>
              </a:rPr>
              <a:t>Patient Profile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276148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9FB6D1"/>
                </a:solidFill>
                <a:latin typeface="Segoe UI"/>
              </a:rPr>
              <a:t>Predictions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3127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9FB6D1"/>
                </a:solidFill>
                <a:latin typeface="Segoe UI"/>
              </a:rPr>
              <a:t>Glucose Trends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349300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9FB6D1"/>
                </a:solidFill>
                <a:latin typeface="Segoe UI"/>
              </a:rPr>
              <a:t>Activity &amp; Lifestyle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385876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9FB6D1"/>
                </a:solidFill>
                <a:latin typeface="Segoe UI"/>
              </a:rPr>
              <a:t>Settings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864608"/>
            <a:ext cx="14813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Segoe UI"/>
              </a:rPr>
              <a:t>Patient ID: GT-129</a:t>
            </a:r>
          </a:p>
          <a:p>
            <a:pPr algn="l">
              <a:spcAft>
                <a:spcPts val="100"/>
              </a:spcAft>
            </a:pPr>
            <a:r>
              <a:rPr sz="750" b="0">
                <a:solidFill>
                  <a:srgbClr val="9FB6D1"/>
                </a:solidFill>
                <a:latin typeface="Segoe UI"/>
              </a:rPr>
              <a:t>Type 2 Diabetes (synthetic)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1426464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335C"/>
                </a:solidFill>
                <a:latin typeface="Segoe UI"/>
              </a:rPr>
              <a:t>Patient Dashboard</a:t>
            </a:r>
          </a:p>
          <a:p>
            <a:pPr algn="l">
              <a:spcAft>
                <a:spcPts val="0"/>
              </a:spcAft>
            </a:pPr>
            <a:r>
              <a:rPr sz="900" b="0">
                <a:solidFill>
                  <a:srgbClr val="5B6B7F"/>
                </a:solidFill>
                <a:latin typeface="Segoe UI"/>
              </a:rPr>
              <a:t>Real-time insights from your digital twin (30 days assimilated)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1481328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50" b="0">
                <a:solidFill>
                  <a:srgbClr val="5B6B7F"/>
                </a:solidFill>
                <a:latin typeface="Segoe UI"/>
              </a:rPr>
              <a:t>Phase-1 PoC · day 30 of 90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31720" y="1883664"/>
            <a:ext cx="2212848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441448" y="1993392"/>
            <a:ext cx="274320" cy="274320"/>
          </a:xfrm>
          <a:prstGeom prst="ellipse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" b="1">
                <a:solidFill>
                  <a:srgbClr val="2E6BE6"/>
                </a:solidFill>
                <a:latin typeface="Segoe UI"/>
              </a:rPr>
              <a:t>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2002536"/>
            <a:ext cx="16642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5B6B7F"/>
                </a:solidFill>
                <a:latin typeface="Segoe UI"/>
              </a:rPr>
              <a:t>Current Glucose (day 30)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59736" y="2286000"/>
            <a:ext cx="19385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335C"/>
                </a:solidFill>
                <a:latin typeface="Segoe UI"/>
              </a:rPr>
              <a:t>169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92424" y="245059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8A97A6"/>
                </a:solidFill>
                <a:latin typeface="Segoe UI"/>
              </a:rPr>
              <a:t>mg/dL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59736" y="2560320"/>
            <a:ext cx="1371600" cy="219456"/>
          </a:xfrm>
          <a:prstGeom prst="roundRect">
            <a:avLst>
              <a:gd name="adj" fmla="val 50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50" b="1">
                <a:solidFill>
                  <a:srgbClr val="B46A00"/>
                </a:solidFill>
                <a:latin typeface="Segoe UI"/>
              </a:rPr>
              <a:t>Elevated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04488" y="2578608"/>
            <a:ext cx="5669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0">
                <a:solidFill>
                  <a:srgbClr val="8A97A6"/>
                </a:solidFill>
                <a:latin typeface="Segoe UI"/>
              </a:rPr>
              <a:t>target 70-140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36008" y="1883664"/>
            <a:ext cx="2212848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45736" y="1993392"/>
            <a:ext cx="274320" cy="274320"/>
          </a:xfrm>
          <a:prstGeom prst="ellipse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" b="1">
                <a:solidFill>
                  <a:srgbClr val="2E6BE6"/>
                </a:solidFill>
                <a:latin typeface="Segoe UI"/>
              </a:rPr>
              <a:t>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93208" y="2002536"/>
            <a:ext cx="16642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5B6B7F"/>
                </a:solidFill>
                <a:latin typeface="Segoe UI"/>
              </a:rPr>
              <a:t>Predicted (day 61-90 mean)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64024" y="2286000"/>
            <a:ext cx="19385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335C"/>
                </a:solidFill>
                <a:latin typeface="Segoe UI"/>
              </a:rPr>
              <a:t>206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96712" y="245059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8A97A6"/>
                </a:solidFill>
                <a:latin typeface="Segoe UI"/>
              </a:rPr>
              <a:t>mg/dL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64024" y="2560320"/>
            <a:ext cx="1371600" cy="219456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50" b="1">
                <a:solidFill>
                  <a:srgbClr val="C0392B"/>
                </a:solidFill>
                <a:latin typeface="Segoe UI"/>
              </a:rPr>
              <a:t>High Risk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08776" y="2578608"/>
            <a:ext cx="5669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0">
                <a:solidFill>
                  <a:srgbClr val="8A97A6"/>
                </a:solidFill>
                <a:latin typeface="Segoe UI"/>
              </a:rPr>
              <a:t>&gt;140 = high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40296" y="1883664"/>
            <a:ext cx="2212848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050024" y="1993392"/>
            <a:ext cx="274320" cy="274320"/>
          </a:xfrm>
          <a:prstGeom prst="ellipse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" b="1">
                <a:solidFill>
                  <a:srgbClr val="2E6BE6"/>
                </a:solidFill>
                <a:latin typeface="Segoe UI"/>
              </a:rPr>
              <a:t>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97496" y="2002536"/>
            <a:ext cx="16642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5B6B7F"/>
                </a:solidFill>
                <a:latin typeface="Segoe UI"/>
              </a:rPr>
              <a:t>Time to Threshold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68312" y="2286000"/>
            <a:ext cx="19385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335C"/>
                </a:solidFill>
                <a:latin typeface="Segoe UI"/>
              </a:rPr>
              <a:t>~40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01000" y="245059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8A97A6"/>
                </a:solidFill>
                <a:latin typeface="Segoe UI"/>
              </a:rPr>
              <a:t>days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068312" y="2560320"/>
            <a:ext cx="1371600" cy="219456"/>
          </a:xfrm>
          <a:prstGeom prst="roundRect">
            <a:avLst>
              <a:gd name="adj" fmla="val 5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50" b="1">
                <a:solidFill>
                  <a:srgbClr val="2E6BE6"/>
                </a:solidFill>
                <a:latin typeface="Segoe UI"/>
              </a:rPr>
              <a:t>twin forecast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13064" y="2578608"/>
            <a:ext cx="5669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0">
                <a:solidFill>
                  <a:srgbClr val="8A97A6"/>
                </a:solidFill>
                <a:latin typeface="Segoe UI"/>
              </a:rPr>
              <a:t>day 70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244584" y="1883664"/>
            <a:ext cx="2212848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354312" y="1993392"/>
            <a:ext cx="274320" cy="274320"/>
          </a:xfrm>
          <a:prstGeom prst="ellipse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" b="1">
                <a:solidFill>
                  <a:srgbClr val="2E6BE6"/>
                </a:solidFill>
                <a:latin typeface="Segoe UI"/>
              </a:rPr>
              <a:t>🎯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01784" y="2002536"/>
            <a:ext cx="16642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5B6B7F"/>
                </a:solidFill>
                <a:latin typeface="Segoe UI"/>
              </a:rPr>
              <a:t>90-d Deterioration Risk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72600" y="2286000"/>
            <a:ext cx="193852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335C"/>
                </a:solidFill>
                <a:latin typeface="Segoe UI"/>
              </a:rPr>
              <a:t>97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94392" y="245059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8A97A6"/>
                </a:solidFill>
                <a:latin typeface="Segoe UI"/>
              </a:rPr>
              <a:t>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372600" y="2560320"/>
            <a:ext cx="1371600" cy="219456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50" b="1">
                <a:solidFill>
                  <a:srgbClr val="C0392B"/>
                </a:solidFill>
                <a:latin typeface="Segoe UI"/>
              </a:rPr>
              <a:t>HIGH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17352" y="2578608"/>
            <a:ext cx="5669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0">
                <a:solidFill>
                  <a:srgbClr val="8A97A6"/>
                </a:solidFill>
                <a:latin typeface="Segoe UI"/>
              </a:rPr>
              <a:t>model prob.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331720" y="2889504"/>
            <a:ext cx="6053328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487168" y="294436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4335C"/>
                </a:solidFill>
                <a:latin typeface="Segoe UI"/>
              </a:rPr>
              <a:t>Glucose Forecast (next 90 days)</a:t>
            </a:r>
          </a:p>
        </p:txBody>
      </p:sp>
      <p:pic>
        <p:nvPicPr>
          <p:cNvPr id="56" name="Picture 55" descr="showcase_forec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592" y="3200400"/>
            <a:ext cx="5815584" cy="1453896"/>
          </a:xfrm>
          <a:prstGeom prst="rect">
            <a:avLst/>
          </a:prstGeom>
        </p:spPr>
      </p:pic>
      <p:sp>
        <p:nvSpPr>
          <p:cNvPr id="57" name="Rounded Rectangle 56"/>
          <p:cNvSpPr/>
          <p:nvPr/>
        </p:nvSpPr>
        <p:spPr>
          <a:xfrm>
            <a:off x="8503920" y="2889504"/>
            <a:ext cx="3246120" cy="1828800"/>
          </a:xfrm>
          <a:prstGeom prst="roundRect">
            <a:avLst>
              <a:gd name="adj" fmla="val 6000"/>
            </a:avLst>
          </a:prstGeom>
          <a:solidFill>
            <a:srgbClr val="FDF7F7"/>
          </a:solidFill>
          <a:ln w="12700">
            <a:solidFill>
              <a:srgbClr val="F3D3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68512" y="2962656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C0392B"/>
                </a:solidFill>
                <a:latin typeface="Segoe UI"/>
              </a:rPr>
              <a:t>⚠  Risk Alert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68512" y="320040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900" b="0">
                <a:solidFill>
                  <a:srgbClr val="1B2A3A"/>
                </a:solidFill>
                <a:latin typeface="Segoe UI"/>
              </a:rPr>
              <a:t>Twin predicts mean glucose crosses 180 mg/dL around day 70 (40 days from now) if nothing changes.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68512" y="3621024"/>
            <a:ext cx="2926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C0392B"/>
                </a:solidFill>
                <a:latin typeface="Segoe UI"/>
              </a:rPr>
              <a:t>Recommended actions (simulated):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3803904"/>
            <a:ext cx="21945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B2A3A"/>
                </a:solidFill>
                <a:latin typeface="Segoe UI"/>
              </a:rPr>
              <a:t>🚶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24544" y="3803904"/>
            <a:ext cx="2743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1B2A3A"/>
                </a:solidFill>
                <a:latin typeface="Segoe UI"/>
              </a:rPr>
              <a:t>+3,500 steps/day → eA1c 8.5% (-0.3 pp)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0" y="4032504"/>
            <a:ext cx="21945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B2A3A"/>
                </a:solidFill>
                <a:latin typeface="Segoe UI"/>
              </a:rPr>
              <a:t>💧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24544" y="4032504"/>
            <a:ext cx="2743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1B2A3A"/>
                </a:solidFill>
                <a:latin typeface="Segoe UI"/>
              </a:rPr>
              <a:t>Adherence +30% → eA1c 8.3% (-0.5 pp)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86800" y="4261104"/>
            <a:ext cx="21945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B2A3A"/>
                </a:solidFill>
                <a:latin typeface="Segoe UI"/>
              </a:rPr>
              <a:t>📋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24544" y="4261104"/>
            <a:ext cx="2743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1B2A3A"/>
                </a:solidFill>
                <a:latin typeface="Segoe UI"/>
              </a:rPr>
              <a:t>Combined plan → eA1c 8.1%, TIR 76%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6800" y="4489704"/>
            <a:ext cx="21945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>
                <a:solidFill>
                  <a:srgbClr val="1B2A3A"/>
                </a:solidFill>
                <a:latin typeface="Segoe UI"/>
              </a:rPr>
              <a:t>🩺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24544" y="4489704"/>
            <a:ext cx="2743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1B2A3A"/>
                </a:solidFill>
                <a:latin typeface="Segoe UI"/>
              </a:rPr>
              <a:t>Care-team review within 14 days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331720" y="4754880"/>
            <a:ext cx="301752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468880" y="4791456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14335C"/>
                </a:solidFill>
                <a:latin typeface="Segoe UI"/>
              </a:rPr>
              <a:t>Recent Glucose Readings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487168" y="497433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B7F"/>
                </a:solidFill>
                <a:latin typeface="Segoe UI"/>
              </a:rPr>
              <a:t>Day 30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83280" y="4974336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>
                <a:solidFill>
                  <a:srgbClr val="1B2A3A"/>
                </a:solidFill>
                <a:latin typeface="Segoe UI"/>
              </a:rPr>
              <a:t>169 mg/dL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434840" y="4974336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8A97A6"/>
                </a:solidFill>
                <a:latin typeface="Segoe UI"/>
              </a:rPr>
              <a:t>5912 steps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87168" y="5129784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B7F"/>
                </a:solidFill>
                <a:latin typeface="Segoe UI"/>
              </a:rPr>
              <a:t>Day 29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383280" y="5129784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>
                <a:solidFill>
                  <a:srgbClr val="1B2A3A"/>
                </a:solidFill>
                <a:latin typeface="Segoe UI"/>
              </a:rPr>
              <a:t>169 mg/dL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434840" y="5129784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8A97A6"/>
                </a:solidFill>
                <a:latin typeface="Segoe UI"/>
              </a:rPr>
              <a:t>6850 steps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487168" y="5285232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B7F"/>
                </a:solidFill>
                <a:latin typeface="Segoe UI"/>
              </a:rPr>
              <a:t>Day 28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383280" y="5285232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>
                <a:solidFill>
                  <a:srgbClr val="1B2A3A"/>
                </a:solidFill>
                <a:latin typeface="Segoe UI"/>
              </a:rPr>
              <a:t>170 mg/dL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34840" y="5285232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8A97A6"/>
                </a:solidFill>
                <a:latin typeface="Segoe UI"/>
              </a:rPr>
              <a:t>4484 steps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458968" y="4754880"/>
            <a:ext cx="292608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596128" y="4791456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14335C"/>
                </a:solidFill>
                <a:latin typeface="Segoe UI"/>
              </a:rPr>
              <a:t>Activity &amp; Lifestyle</a:t>
            </a:r>
          </a:p>
        </p:txBody>
      </p:sp>
      <p:pic>
        <p:nvPicPr>
          <p:cNvPr id="82" name="Picture 81" descr="showcase_min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4974336"/>
            <a:ext cx="2697480" cy="477839"/>
          </a:xfrm>
          <a:prstGeom prst="rect">
            <a:avLst/>
          </a:prstGeom>
        </p:spPr>
      </p:pic>
      <p:sp>
        <p:nvSpPr>
          <p:cNvPr id="83" name="Rounded Rectangle 82"/>
          <p:cNvSpPr/>
          <p:nvPr/>
        </p:nvSpPr>
        <p:spPr>
          <a:xfrm>
            <a:off x="8503920" y="4754880"/>
            <a:ext cx="3246120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668512" y="4791456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14335C"/>
                </a:solidFill>
                <a:latin typeface="Segoe UI"/>
              </a:rPr>
              <a:t>Patient Profile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668512" y="4956048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1B2A3A"/>
                </a:solidFill>
                <a:latin typeface="Segoe UI"/>
              </a:rPr>
              <a:t>Age 38 · Female · BMI 32.2 · Urban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1B2A3A"/>
                </a:solidFill>
                <a:latin typeface="Segoe UI"/>
              </a:rPr>
              <a:t>Family hx T2D: Yes · HbA1c 6.4%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1B2A3A"/>
                </a:solidFill>
                <a:latin typeface="Segoe UI"/>
              </a:rPr>
              <a:t>Adherence 7% · SBP 136 mmHg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274320" y="5632704"/>
            <a:ext cx="4114800" cy="10424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20624" y="5687568"/>
            <a:ext cx="36576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4335C"/>
                </a:solidFill>
                <a:latin typeface="Segoe UI"/>
              </a:rPr>
              <a:t>⬢  System Architecture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20624" y="6016752"/>
            <a:ext cx="868680" cy="457200"/>
          </a:xfrm>
          <a:prstGeom prst="roundRect">
            <a:avLst>
              <a:gd name="adj" fmla="val 2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2E6BE6"/>
                </a:solidFill>
                <a:latin typeface="Segoe UI"/>
              </a:rPr>
              <a:t>EHR + Wearables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1307592" y="6245352"/>
            <a:ext cx="82296" cy="0"/>
          </a:xfrm>
          <a:prstGeom prst="line">
            <a:avLst/>
          </a:prstGeom>
          <a:ln w="15240">
            <a:solidFill>
              <a:srgbClr val="8A97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1389888" y="6016752"/>
            <a:ext cx="868680" cy="457200"/>
          </a:xfrm>
          <a:prstGeom prst="roundRect">
            <a:avLst>
              <a:gd name="adj" fmla="val 20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7C3AED"/>
                </a:solidFill>
                <a:latin typeface="Segoe UI"/>
              </a:rPr>
              <a:t>Twin Engine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2276856" y="6245352"/>
            <a:ext cx="82296" cy="0"/>
          </a:xfrm>
          <a:prstGeom prst="line">
            <a:avLst/>
          </a:prstGeom>
          <a:ln w="15240">
            <a:solidFill>
              <a:srgbClr val="8A97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2359152" y="6016752"/>
            <a:ext cx="868680" cy="457200"/>
          </a:xfrm>
          <a:prstGeom prst="roundRect">
            <a:avLst>
              <a:gd name="adj" fmla="val 20000"/>
            </a:avLst>
          </a:prstGeom>
          <a:solidFill>
            <a:srgbClr val="E5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187C46"/>
                </a:solidFill>
                <a:latin typeface="Segoe UI"/>
              </a:rPr>
              <a:t>ML risk + forecast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3246120" y="6245352"/>
            <a:ext cx="82296" cy="0"/>
          </a:xfrm>
          <a:prstGeom prst="line">
            <a:avLst/>
          </a:prstGeom>
          <a:ln w="15240">
            <a:solidFill>
              <a:srgbClr val="8A97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ounded Rectangle 93"/>
          <p:cNvSpPr/>
          <p:nvPr/>
        </p:nvSpPr>
        <p:spPr>
          <a:xfrm>
            <a:off x="3328416" y="6016752"/>
            <a:ext cx="868680" cy="457200"/>
          </a:xfrm>
          <a:prstGeom prst="roundRect">
            <a:avLst>
              <a:gd name="adj" fmla="val 2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2E6BE6"/>
                </a:solidFill>
                <a:latin typeface="Segoe UI"/>
              </a:rPr>
              <a:t>Dashboard &amp; alerts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498848" y="5632704"/>
            <a:ext cx="3566160" cy="10424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645152" y="5687568"/>
            <a:ext cx="3291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4335C"/>
                </a:solidFill>
                <a:latin typeface="Segoe UI"/>
              </a:rPr>
              <a:t>🗄  Datasets &amp; Data Sources (open / synthetic)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645152" y="5925312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1B2A3A"/>
                </a:solidFill>
                <a:latin typeface="Segoe UI"/>
              </a:rPr>
              <a:t>1. Synthetic EHR - 400 patients, Indian epidemiology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1B2A3A"/>
                </a:solidFill>
                <a:latin typeface="Segoe UI"/>
              </a:rPr>
              <a:t>2. Wearable streams - 36,000 patient-days (CGM/steps/sleep/HR)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1B2A3A"/>
                </a:solidFill>
                <a:latin typeface="Segoe UI"/>
              </a:rPr>
              <a:t>3. Twin states, 4 scenario roll-outs &amp; CV metrics per patient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645152" y="6419088"/>
            <a:ext cx="3273552" cy="201168"/>
          </a:xfrm>
          <a:prstGeom prst="roundRect">
            <a:avLst>
              <a:gd name="adj" fmla="val 40000"/>
            </a:avLst>
          </a:prstGeom>
          <a:solidFill>
            <a:srgbClr val="E5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18304" y="6437376"/>
            <a:ext cx="3200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1">
                <a:solidFill>
                  <a:srgbClr val="187C46"/>
                </a:solidFill>
                <a:latin typeface="Segoe UI"/>
              </a:rPr>
              <a:t>✓ No PHI · fully synthetic · MIT-licensed · DPDP-ready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174736" y="5632704"/>
            <a:ext cx="3739896" cy="10424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321040" y="5687568"/>
            <a:ext cx="3474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4335C"/>
                </a:solidFill>
                <a:latin typeface="Segoe UI"/>
              </a:rPr>
              <a:t>★  Key Features &amp; Tech Stack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321040" y="5907024"/>
            <a:ext cx="3474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00" b="0">
                <a:solidFill>
                  <a:srgbClr val="1B2A3A"/>
                </a:solidFill>
                <a:latin typeface="Segoe UI"/>
              </a:rPr>
              <a:t>✓ 90-day early warning, not quarterly hindsight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1B2A3A"/>
                </a:solidFill>
                <a:latin typeface="Segoe UI"/>
              </a:rPr>
              <a:t>✓ What-if lifestyle simulation (steps / diet / adherence)</a:t>
            </a:r>
          </a:p>
          <a:p>
            <a:pPr algn="l">
              <a:spcAft>
                <a:spcPts val="100"/>
              </a:spcAft>
            </a:pPr>
            <a:r>
              <a:rPr sz="800" b="0">
                <a:solidFill>
                  <a:srgbClr val="1B2A3A"/>
                </a:solidFill>
                <a:latin typeface="Segoe UI"/>
              </a:rPr>
              <a:t>✓ CV-validated: AUROC 0.974 · forecast MAE 5.5 mg/dL</a:t>
            </a:r>
          </a:p>
        </p:txBody>
      </p:sp>
      <p:sp>
        <p:nvSpPr>
          <p:cNvPr id="103" name="Oval 102"/>
          <p:cNvSpPr/>
          <p:nvPr/>
        </p:nvSpPr>
        <p:spPr>
          <a:xfrm>
            <a:off x="8321040" y="6419088"/>
            <a:ext cx="219456" cy="219456"/>
          </a:xfrm>
          <a:prstGeom prst="ellipse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" b="1">
                <a:solidFill>
                  <a:srgbClr val="FFFFFF"/>
                </a:solidFill>
                <a:latin typeface="Segoe UI"/>
              </a:rPr>
              <a:t>Py</a:t>
            </a:r>
          </a:p>
        </p:txBody>
      </p:sp>
      <p:sp>
        <p:nvSpPr>
          <p:cNvPr id="104" name="Oval 103"/>
          <p:cNvSpPr/>
          <p:nvPr/>
        </p:nvSpPr>
        <p:spPr>
          <a:xfrm>
            <a:off x="8613648" y="6419088"/>
            <a:ext cx="219456" cy="219456"/>
          </a:xfrm>
          <a:prstGeom prst="ellipse">
            <a:avLst/>
          </a:prstGeom>
          <a:solidFill>
            <a:srgbClr val="14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" b="1">
                <a:solidFill>
                  <a:srgbClr val="FFFFFF"/>
                </a:solidFill>
                <a:latin typeface="Segoe UI"/>
              </a:rPr>
              <a:t>NP</a:t>
            </a:r>
          </a:p>
        </p:txBody>
      </p:sp>
      <p:sp>
        <p:nvSpPr>
          <p:cNvPr id="105" name="Oval 104"/>
          <p:cNvSpPr/>
          <p:nvPr/>
        </p:nvSpPr>
        <p:spPr>
          <a:xfrm>
            <a:off x="8906256" y="6419088"/>
            <a:ext cx="219456" cy="21945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" b="1">
                <a:solidFill>
                  <a:srgbClr val="FFFFFF"/>
                </a:solidFill>
                <a:latin typeface="Segoe UI"/>
              </a:rPr>
              <a:t>sk</a:t>
            </a:r>
          </a:p>
        </p:txBody>
      </p:sp>
      <p:sp>
        <p:nvSpPr>
          <p:cNvPr id="106" name="Oval 105"/>
          <p:cNvSpPr/>
          <p:nvPr/>
        </p:nvSpPr>
        <p:spPr>
          <a:xfrm>
            <a:off x="9198864" y="6419088"/>
            <a:ext cx="219456" cy="21945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" b="1">
                <a:solidFill>
                  <a:srgbClr val="FFFFFF"/>
                </a:solidFill>
                <a:latin typeface="Segoe UI"/>
              </a:rPr>
              <a:t>St</a:t>
            </a:r>
          </a:p>
        </p:txBody>
      </p:sp>
      <p:sp>
        <p:nvSpPr>
          <p:cNvPr id="107" name="Oval 106"/>
          <p:cNvSpPr/>
          <p:nvPr/>
        </p:nvSpPr>
        <p:spPr>
          <a:xfrm>
            <a:off x="9491472" y="6419088"/>
            <a:ext cx="219456" cy="21945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" b="1">
                <a:solidFill>
                  <a:srgbClr val="FFFFFF"/>
                </a:solidFill>
                <a:latin typeface="Segoe UI"/>
              </a:rPr>
              <a:t>pt</a:t>
            </a:r>
          </a:p>
        </p:txBody>
      </p:sp>
      <p:sp>
        <p:nvSpPr>
          <p:cNvPr id="108" name="Oval 107"/>
          <p:cNvSpPr/>
          <p:nvPr/>
        </p:nvSpPr>
        <p:spPr>
          <a:xfrm>
            <a:off x="9784080" y="6419088"/>
            <a:ext cx="219456" cy="219456"/>
          </a:xfrm>
          <a:prstGeom prst="ellipse">
            <a:avLst/>
          </a:prstGeom>
          <a:solidFill>
            <a:srgbClr val="187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149840" y="6455664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>
                <a:solidFill>
                  <a:srgbClr val="8A97A6"/>
                </a:solidFill>
                <a:latin typeface="Segoe UI"/>
              </a:rPr>
              <a:t>reproducible in ~20 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01168"/>
            <a:ext cx="11640312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9184"/>
            <a:ext cx="713232" cy="713232"/>
          </a:xfrm>
          <a:prstGeom prst="roundRect">
            <a:avLst>
              <a:gd name="adj" fmla="val 25000"/>
            </a:avLst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/>
              <a:t>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10896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4335C"/>
                </a:solidFill>
                <a:latin typeface="Segoe UI"/>
              </a:rPr>
              <a:t>The Problem </a:t>
            </a:r>
          </a:p>
          <a:p>
            <a:pPr algn="l">
              <a:spcAft>
                <a:spcPts val="0"/>
              </a:spcAft>
            </a:pPr>
            <a:r>
              <a:rPr sz="2600" b="1">
                <a:solidFill>
                  <a:srgbClr val="2E6BE6"/>
                </a:solidFill>
                <a:latin typeface="Segoe UI"/>
              </a:rPr>
              <a:t>&amp; The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786384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B7F"/>
                </a:solidFill>
                <a:latin typeface="Segoe UI"/>
              </a:rPr>
              <a:t>India's diabetes care is reactive and blind between visits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310896"/>
            <a:ext cx="3566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>
                <a:solidFill>
                  <a:srgbClr val="1B2A3A"/>
                </a:solidFill>
                <a:latin typeface="Segoe UI"/>
              </a:rPr>
              <a:t>Care happens ~4 times a year via HbA1c snapshots, while deterioration unfolds invisibly between visits. Wearables already stream the missing signal - but raw streams are neither predictions nor personalisation.</a:t>
            </a:r>
          </a:p>
        </p:txBody>
      </p:sp>
      <p:sp>
        <p:nvSpPr>
          <p:cNvPr id="7" name="Oval 6"/>
          <p:cNvSpPr/>
          <p:nvPr/>
        </p:nvSpPr>
        <p:spPr>
          <a:xfrm>
            <a:off x="9372600" y="301752"/>
            <a:ext cx="274320" cy="274320"/>
          </a:xfrm>
          <a:prstGeom prst="ellipse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" b="1">
                <a:solidFill>
                  <a:srgbClr val="2E6BE6"/>
                </a:solidFill>
                <a:latin typeface="Segoe UI"/>
              </a:rPr>
              <a:t>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2743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335C"/>
                </a:solidFill>
                <a:latin typeface="Segoe UI"/>
              </a:rPr>
              <a:t>101 M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Segoe UI"/>
              </a:rPr>
              <a:t>Indians with diabetes</a:t>
            </a:r>
          </a:p>
        </p:txBody>
      </p:sp>
      <p:sp>
        <p:nvSpPr>
          <p:cNvPr id="9" name="Oval 8"/>
          <p:cNvSpPr/>
          <p:nvPr/>
        </p:nvSpPr>
        <p:spPr>
          <a:xfrm>
            <a:off x="9372600" y="594360"/>
            <a:ext cx="274320" cy="274320"/>
          </a:xfrm>
          <a:prstGeom prst="ellipse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" b="1">
                <a:solidFill>
                  <a:srgbClr val="2E6BE6"/>
                </a:solidFill>
                <a:latin typeface="Segoe UI"/>
              </a:rPr>
              <a:t>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60" y="56692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335C"/>
                </a:solidFill>
                <a:latin typeface="Segoe UI"/>
              </a:rPr>
              <a:t>~50 %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Segoe UI"/>
              </a:rPr>
              <a:t>undiagnosed until complications</a:t>
            </a:r>
          </a:p>
        </p:txBody>
      </p:sp>
      <p:sp>
        <p:nvSpPr>
          <p:cNvPr id="11" name="Oval 10"/>
          <p:cNvSpPr/>
          <p:nvPr/>
        </p:nvSpPr>
        <p:spPr>
          <a:xfrm>
            <a:off x="9372600" y="886968"/>
            <a:ext cx="274320" cy="274320"/>
          </a:xfrm>
          <a:prstGeom prst="ellipse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" b="1">
                <a:solidFill>
                  <a:srgbClr val="2E6BE6"/>
                </a:solidFill>
                <a:latin typeface="Segoe UI"/>
              </a:rPr>
              <a:t>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859536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335C"/>
                </a:solidFill>
                <a:latin typeface="Segoe UI"/>
              </a:rPr>
              <a:t>4 / yr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Segoe UI"/>
              </a:rPr>
              <a:t>clinical touchpoints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481328"/>
            <a:ext cx="2724912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1627632"/>
            <a:ext cx="24505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C0392B"/>
                </a:solidFill>
                <a:latin typeface="Segoe UI"/>
              </a:rPr>
              <a:t>101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2139696"/>
            <a:ext cx="23957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5B6B7F"/>
                </a:solidFill>
                <a:latin typeface="Segoe UI"/>
              </a:rPr>
              <a:t>Indians living with diabetes - world's largest burden (IDF / ICMR-INDIAB)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5848" y="1481328"/>
            <a:ext cx="2724912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1627632"/>
            <a:ext cx="24505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B46A00"/>
                </a:solidFill>
                <a:latin typeface="Segoe UI"/>
              </a:rPr>
              <a:t>136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139696"/>
            <a:ext cx="23957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5B6B7F"/>
                </a:solidFill>
                <a:latin typeface="Segoe UI"/>
              </a:rPr>
              <a:t>with prediabetes - the twin's prevention market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1481328"/>
            <a:ext cx="2724912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1627632"/>
            <a:ext cx="24505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C0392B"/>
                </a:solidFill>
                <a:latin typeface="Segoe UI"/>
              </a:rPr>
              <a:t>~50 %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2139696"/>
            <a:ext cx="23957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5B6B7F"/>
                </a:solidFill>
                <a:latin typeface="Segoe UI"/>
              </a:rPr>
              <a:t>undiagnosed; complications found after irreversible damage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61704" y="1481328"/>
            <a:ext cx="2724912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26296" y="1627632"/>
            <a:ext cx="24505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4335C"/>
                </a:solidFill>
                <a:latin typeface="Segoe UI"/>
              </a:rPr>
              <a:t>4×/yr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6296" y="2139696"/>
            <a:ext cx="23957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5B6B7F"/>
                </a:solidFill>
                <a:latin typeface="Segoe UI"/>
              </a:rPr>
              <a:t>HbA1c snapshots - physiology moves daily, care moves quarterly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2880360"/>
            <a:ext cx="69494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063240"/>
            <a:ext cx="64922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14335C"/>
                </a:solidFill>
                <a:latin typeface="Segoe UI"/>
              </a:rPr>
              <a:t>Three structural gaps we attack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400" b="0">
                <a:solidFill>
                  <a:srgbClr val="1B2A3A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1B2A3A"/>
                </a:solidFill>
                <a:latin typeface="Segoe UI"/>
              </a:rPr>
              <a:t>1 · Latency - deterioration is discovered a quarter too late, at the next HbA1c.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1B2A3A"/>
                </a:solidFill>
                <a:latin typeface="Segoe UI"/>
              </a:rPr>
              <a:t>2 · Blindness - between visits nobody sees glucose, steps, sleep or stress move.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1B2A3A"/>
                </a:solidFill>
                <a:latin typeface="Segoe UI"/>
              </a:rPr>
              <a:t>3 · Generic advice - 'walk more' is not a plan; patients ask what happens to MY sugar if I change MY habits.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600" b="0">
                <a:solidFill>
                  <a:srgbClr val="1B2A3A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2E6BE6"/>
                </a:solidFill>
                <a:latin typeface="Segoe UI"/>
              </a:rPr>
              <a:t>Our challenge answer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1B2A3A"/>
                </a:solidFill>
                <a:latin typeface="Segoe UI"/>
              </a:rPr>
              <a:t>Twin ONE localised, high-burden outcome: predict 90-day glycaemic deterioration in Type 2 Diabetes 30 days ahead - and simulate which single lifestyle change prevents it.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2880360"/>
            <a:ext cx="4069080" cy="3566160"/>
          </a:xfrm>
          <a:prstGeom prst="roundRect">
            <a:avLst>
              <a:gd name="adj" fmla="val 6000"/>
            </a:avLst>
          </a:prstGeom>
          <a:solidFill>
            <a:srgbClr val="EAF1FE"/>
          </a:solidFill>
          <a:ln w="1270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3108960"/>
            <a:ext cx="36118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1">
                <a:solidFill>
                  <a:srgbClr val="14335C"/>
                </a:solidFill>
                <a:latin typeface="Segoe UI"/>
              </a:rPr>
              <a:t>Outcome definition (label)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400" b="0">
                <a:solidFill>
                  <a:srgbClr val="1B2A3A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0">
                <a:solidFill>
                  <a:srgbClr val="1B2A3A"/>
                </a:solidFill>
                <a:latin typeface="Segoe UI"/>
              </a:rPr>
              <a:t>90-day glycaemic deterioration =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0">
                <a:solidFill>
                  <a:srgbClr val="1B2A3A"/>
                </a:solidFill>
                <a:latin typeface="Segoe UI"/>
              </a:rPr>
              <a:t>• mean CGM rise ≥ 25 mg/dL (days 61-90 vs 1-30), OR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0">
                <a:solidFill>
                  <a:srgbClr val="1B2A3A"/>
                </a:solidFill>
                <a:latin typeface="Segoe UI"/>
              </a:rPr>
              <a:t>• mean CGM ≥ 180 mg/dL (sustained hyperglycaemia)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600" b="0">
                <a:solidFill>
                  <a:srgbClr val="1B2A3A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1">
                <a:solidFill>
                  <a:srgbClr val="C0392B"/>
                </a:solidFill>
                <a:latin typeface="Segoe UI"/>
              </a:rPr>
              <a:t>Prevalence in cohort: 18.8%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600" b="0">
                <a:solidFill>
                  <a:srgbClr val="1B2A3A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5B6B7F"/>
                </a:solidFill>
                <a:latin typeface="Segoe UI"/>
              </a:rPr>
              <a:t>Features may only use data up to day 30 - the twin must warn before the event window even starts.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01168"/>
            <a:ext cx="11640312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9184"/>
            <a:ext cx="713232" cy="713232"/>
          </a:xfrm>
          <a:prstGeom prst="roundRect">
            <a:avLst>
              <a:gd name="adj" fmla="val 25000"/>
            </a:avLst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/>
              <a:t>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10896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4335C"/>
                </a:solidFill>
                <a:latin typeface="Segoe UI"/>
              </a:rPr>
              <a:t>How The </a:t>
            </a:r>
          </a:p>
          <a:p>
            <a:pPr algn="l">
              <a:spcAft>
                <a:spcPts val="0"/>
              </a:spcAft>
            </a:pPr>
            <a:r>
              <a:rPr sz="2600" b="1">
                <a:solidFill>
                  <a:srgbClr val="2E6BE6"/>
                </a:solidFill>
                <a:latin typeface="Segoe UI"/>
              </a:rPr>
              <a:t>Twin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786384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B7F"/>
                </a:solidFill>
                <a:latin typeface="Segoe UI"/>
              </a:rPr>
              <a:t>Birth → Assimilation → Simulation, every single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310896"/>
            <a:ext cx="3566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>
                <a:solidFill>
                  <a:srgbClr val="1B2A3A"/>
                </a:solidFill>
                <a:latin typeface="Segoe UI"/>
              </a:rPr>
              <a:t>A discrete state-space replica x = [insulin sensitivity, progression rate, glucose]: initialised from the EHR, corrected daily by wearables, then rolled forward under any lifestyle scenario.</a:t>
            </a:r>
          </a:p>
        </p:txBody>
      </p:sp>
      <p:sp>
        <p:nvSpPr>
          <p:cNvPr id="7" name="Oval 6"/>
          <p:cNvSpPr/>
          <p:nvPr/>
        </p:nvSpPr>
        <p:spPr>
          <a:xfrm>
            <a:off x="9372600" y="301752"/>
            <a:ext cx="274320" cy="274320"/>
          </a:xfrm>
          <a:prstGeom prst="ellipse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" b="1">
                <a:solidFill>
                  <a:srgbClr val="2E6BE6"/>
                </a:solidFill>
                <a:latin typeface="Segoe UI"/>
              </a:rPr>
              <a:t>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2743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335C"/>
                </a:solidFill>
                <a:latin typeface="Segoe UI"/>
              </a:rPr>
              <a:t>Born from EHR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Segoe UI"/>
              </a:rPr>
              <a:t>static record seeds the state</a:t>
            </a:r>
          </a:p>
        </p:txBody>
      </p:sp>
      <p:sp>
        <p:nvSpPr>
          <p:cNvPr id="9" name="Oval 8"/>
          <p:cNvSpPr/>
          <p:nvPr/>
        </p:nvSpPr>
        <p:spPr>
          <a:xfrm>
            <a:off x="9372600" y="594360"/>
            <a:ext cx="274320" cy="274320"/>
          </a:xfrm>
          <a:prstGeom prst="ellipse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" b="1">
                <a:solidFill>
                  <a:srgbClr val="2E6BE6"/>
                </a:solidFill>
                <a:latin typeface="Segoe UI"/>
              </a:rPr>
              <a:t>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60" y="56692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335C"/>
                </a:solidFill>
                <a:latin typeface="Segoe UI"/>
              </a:rPr>
              <a:t>Updated daily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Segoe UI"/>
              </a:rPr>
              <a:t>Kalman-gain fusion of CGM day</a:t>
            </a:r>
          </a:p>
        </p:txBody>
      </p:sp>
      <p:sp>
        <p:nvSpPr>
          <p:cNvPr id="11" name="Oval 10"/>
          <p:cNvSpPr/>
          <p:nvPr/>
        </p:nvSpPr>
        <p:spPr>
          <a:xfrm>
            <a:off x="9372600" y="886968"/>
            <a:ext cx="274320" cy="274320"/>
          </a:xfrm>
          <a:prstGeom prst="ellipse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" b="1">
                <a:solidFill>
                  <a:srgbClr val="2E6BE6"/>
                </a:solidFill>
                <a:latin typeface="Segoe UI"/>
              </a:rPr>
              <a:t>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859536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335C"/>
                </a:solidFill>
                <a:latin typeface="Segoe UI"/>
              </a:rPr>
              <a:t>Simulates futures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Segoe UI"/>
              </a:rPr>
              <a:t>counterfactual 90-day roll-outs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481328"/>
            <a:ext cx="3639312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9224" y="1609344"/>
            <a:ext cx="1051560" cy="219456"/>
          </a:xfrm>
          <a:prstGeom prst="roundRect">
            <a:avLst>
              <a:gd name="adj" fmla="val 50000"/>
            </a:avLst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1 · BIRTH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192024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4335C"/>
                </a:solidFill>
                <a:latin typeface="Segoe UI"/>
              </a:rPr>
              <a:t>x₀ = f(EHR)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2286000"/>
            <a:ext cx="334670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5B6B7F"/>
                </a:solidFill>
                <a:latin typeface="Segoe UI"/>
              </a:rPr>
              <a:t>SI, progression &amp; glucose initialised from BMI, age, adherence, family history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0248" y="1481328"/>
            <a:ext cx="3639312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16552" y="1609344"/>
            <a:ext cx="1051560" cy="21945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2 · ASSIMILATE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192024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4335C"/>
                </a:solidFill>
                <a:latin typeface="Segoe UI"/>
              </a:rPr>
              <a:t>x ← x + K(z − h(x))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2286000"/>
            <a:ext cx="334670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5B6B7F"/>
                </a:solidFill>
                <a:latin typeface="Segoe UI"/>
              </a:rPr>
              <a:t>each wearable day: predict CGM from state, correct state by the innovation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37576" y="1481328"/>
            <a:ext cx="3639312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83880" y="1609344"/>
            <a:ext cx="1051560" cy="219456"/>
          </a:xfrm>
          <a:prstGeom prst="roundRect">
            <a:avLst>
              <a:gd name="adj" fmla="val 50000"/>
            </a:avLst>
          </a:prstGeom>
          <a:solidFill>
            <a:srgbClr val="187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3 · SIMULATE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192024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4335C"/>
                </a:solidFill>
                <a:latin typeface="Segoe UI"/>
              </a:rPr>
              <a:t>roll 90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2286000"/>
            <a:ext cx="334670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0">
                <a:solidFill>
                  <a:srgbClr val="5B6B7F"/>
                </a:solidFill>
                <a:latin typeface="Segoe UI"/>
              </a:rPr>
              <a:t>what-if scenarios → eA1c, time-in-range, time-to-threshold, risk band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246120"/>
            <a:ext cx="740664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36499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4335C"/>
                </a:solidFill>
                <a:latin typeface="Segoe UI"/>
              </a:rPr>
              <a:t>Live example - patient GT-129 (risk 97%)</a:t>
            </a:r>
          </a:p>
        </p:txBody>
      </p:sp>
      <p:pic>
        <p:nvPicPr>
          <p:cNvPr id="27" name="Picture 26" descr="showcase_forec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675887"/>
            <a:ext cx="7086600" cy="177165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092440" y="3246120"/>
            <a:ext cx="3611880" cy="3200400"/>
          </a:xfrm>
          <a:prstGeom prst="roundRect">
            <a:avLst>
              <a:gd name="adj" fmla="val 6000"/>
            </a:avLst>
          </a:prstGeom>
          <a:solidFill>
            <a:srgbClr val="EAF1FE"/>
          </a:solidFill>
          <a:ln w="1270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2752" y="3429000"/>
            <a:ext cx="320040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1">
                <a:solidFill>
                  <a:srgbClr val="14335C"/>
                </a:solidFill>
                <a:latin typeface="Segoe UI"/>
              </a:rPr>
              <a:t>Why this is a twin, not a model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400" b="0">
                <a:solidFill>
                  <a:srgbClr val="1B2A3A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1B2A3A"/>
                </a:solidFill>
                <a:latin typeface="Segoe UI"/>
              </a:rPr>
              <a:t>• It has a persistent per-patient state that evolves with data - not a one-shot score.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1B2A3A"/>
                </a:solidFill>
                <a:latin typeface="Segoe UI"/>
              </a:rPr>
              <a:t>• It can be interrogated: 'what if +3,500 steps?' answers in milliseconds.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1B2A3A"/>
                </a:solidFill>
                <a:latin typeface="Segoe UI"/>
              </a:rPr>
              <a:t>• Its latent states (SI, progression) become ML features - the twin teaches the classifier.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>
                <a:solidFill>
                  <a:srgbClr val="1B2A3A"/>
                </a:solidFill>
                <a:latin typeface="Segoe UI"/>
              </a:rPr>
              <a:t>• 150 lines of NumPy = fully inspectable by clinicians &amp; jury.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01168"/>
            <a:ext cx="11640312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9184"/>
            <a:ext cx="713232" cy="713232"/>
          </a:xfrm>
          <a:prstGeom prst="roundRect">
            <a:avLst>
              <a:gd name="adj" fmla="val 25000"/>
            </a:avLst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/>
              <a:t>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10896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4335C"/>
                </a:solidFill>
                <a:latin typeface="Segoe UI"/>
              </a:rPr>
              <a:t>Models &amp; </a:t>
            </a:r>
          </a:p>
          <a:p>
            <a:pPr algn="l">
              <a:spcAft>
                <a:spcPts val="0"/>
              </a:spcAft>
            </a:pPr>
            <a:r>
              <a:rPr sz="2600" b="1">
                <a:solidFill>
                  <a:srgbClr val="2E6BE6"/>
                </a:solidFill>
                <a:latin typeface="Segoe UI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786384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B7F"/>
                </a:solidFill>
                <a:latin typeface="Segoe UI"/>
              </a:rPr>
              <a:t>An honest CV benchmark - the winner gets deployed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310896"/>
            <a:ext cx="3566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>
                <a:solidFill>
                  <a:srgbClr val="1B2A3A"/>
                </a:solidFill>
                <a:latin typeface="Segoe UI"/>
              </a:rPr>
              <a:t>Model A: 90-day deterioration risk from 19 features (10 EHR + 6 wearable-30d + 3 twin latent states). Model B: next-day glucose head. GroupKFold(5) by patient; winner refit and shipped.</a:t>
            </a:r>
          </a:p>
        </p:txBody>
      </p:sp>
      <p:sp>
        <p:nvSpPr>
          <p:cNvPr id="7" name="Oval 6"/>
          <p:cNvSpPr/>
          <p:nvPr/>
        </p:nvSpPr>
        <p:spPr>
          <a:xfrm>
            <a:off x="9372600" y="301752"/>
            <a:ext cx="274320" cy="274320"/>
          </a:xfrm>
          <a:prstGeom prst="ellipse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" b="1">
                <a:solidFill>
                  <a:srgbClr val="2E6BE6"/>
                </a:solidFill>
                <a:latin typeface="Segoe UI"/>
              </a:rPr>
              <a:t>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2743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335C"/>
                </a:solidFill>
                <a:latin typeface="Segoe UI"/>
              </a:rPr>
              <a:t>GroupKFold(5)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Segoe UI"/>
              </a:rPr>
              <a:t>out-of-fold, by patient</a:t>
            </a:r>
          </a:p>
        </p:txBody>
      </p:sp>
      <p:sp>
        <p:nvSpPr>
          <p:cNvPr id="9" name="Oval 8"/>
          <p:cNvSpPr/>
          <p:nvPr/>
        </p:nvSpPr>
        <p:spPr>
          <a:xfrm>
            <a:off x="9372600" y="594360"/>
            <a:ext cx="274320" cy="274320"/>
          </a:xfrm>
          <a:prstGeom prst="ellipse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" b="1">
                <a:solidFill>
                  <a:srgbClr val="2E6BE6"/>
                </a:solidFill>
                <a:latin typeface="Segoe UI"/>
              </a:rPr>
              <a:t>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60" y="56692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335C"/>
                </a:solidFill>
                <a:latin typeface="Segoe UI"/>
              </a:rPr>
              <a:t>Zoo benchmark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Segoe UI"/>
              </a:rPr>
              <a:t>GBDT vs RF vs LogReg</a:t>
            </a:r>
          </a:p>
        </p:txBody>
      </p:sp>
      <p:sp>
        <p:nvSpPr>
          <p:cNvPr id="11" name="Oval 10"/>
          <p:cNvSpPr/>
          <p:nvPr/>
        </p:nvSpPr>
        <p:spPr>
          <a:xfrm>
            <a:off x="9372600" y="886968"/>
            <a:ext cx="274320" cy="274320"/>
          </a:xfrm>
          <a:prstGeom prst="ellipse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" b="1">
                <a:solidFill>
                  <a:srgbClr val="2E6BE6"/>
                </a:solidFill>
                <a:latin typeface="Segoe UI"/>
              </a:rPr>
              <a:t>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859536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335C"/>
                </a:solidFill>
                <a:latin typeface="Segoe UI"/>
              </a:rPr>
              <a:t>Twin-augmented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Segoe UI"/>
              </a:rPr>
              <a:t>latent states as features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481328"/>
            <a:ext cx="2724912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1627632"/>
            <a:ext cx="24505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0F766E"/>
                </a:solidFill>
                <a:latin typeface="Segoe UI"/>
              </a:rPr>
              <a:t>0.974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2139696"/>
            <a:ext cx="23957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5B6B7F"/>
                </a:solidFill>
                <a:latin typeface="Segoe UI"/>
              </a:rPr>
              <a:t>AUROC - deployed RandomForest (zoo: 0.970, 0.974, 0.970)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55848" y="1481328"/>
            <a:ext cx="2724912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1627632"/>
            <a:ext cx="24505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2E6BE6"/>
                </a:solidFill>
                <a:latin typeface="Segoe UI"/>
              </a:rPr>
              <a:t>0.891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139696"/>
            <a:ext cx="23957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5B6B7F"/>
                </a:solidFill>
                <a:latin typeface="Segoe UI"/>
              </a:rPr>
              <a:t>Average Precision at 18.8% prevalence - the curve that matters for screening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1481328"/>
            <a:ext cx="2724912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1627632"/>
            <a:ext cx="24505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7C3AED"/>
                </a:solidFill>
                <a:latin typeface="Segoe UI"/>
              </a:rPr>
              <a:t>5.49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2139696"/>
            <a:ext cx="23957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5B6B7F"/>
                </a:solidFill>
                <a:latin typeface="Segoe UI"/>
              </a:rPr>
              <a:t>mg/dL next-day MAE vs 6.71 persistence (−18%)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61704" y="1481328"/>
            <a:ext cx="2724912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26296" y="1627632"/>
            <a:ext cx="24505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4335C"/>
                </a:solidFill>
                <a:latin typeface="Segoe UI"/>
              </a:rPr>
              <a:t>0.055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6296" y="2139696"/>
            <a:ext cx="23957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5B6B7F"/>
                </a:solidFill>
                <a:latin typeface="Segoe UI"/>
              </a:rPr>
              <a:t>Brier score - probabilities are calibrated, not just ranked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2880360"/>
            <a:ext cx="55778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roc_p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063240"/>
            <a:ext cx="5257800" cy="2213811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263640" y="2880360"/>
            <a:ext cx="544068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2" y="306324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4335C"/>
                </a:solidFill>
                <a:latin typeface="Segoe UI"/>
              </a:rPr>
              <a:t>Top twin-augmented risk drivers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3429000"/>
            <a:ext cx="31089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B2A3A"/>
                </a:solidFill>
                <a:latin typeface="Segoe UI"/>
              </a:rPr>
              <a:t>hr_mean_d30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3456432"/>
            <a:ext cx="1920240" cy="146304"/>
          </a:xfrm>
          <a:prstGeom prst="roundRect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567160" y="342900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B7F"/>
                </a:solidFill>
                <a:latin typeface="Segoe UI"/>
              </a:rPr>
              <a:t>0.31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3703320"/>
            <a:ext cx="31089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B2A3A"/>
                </a:solidFill>
                <a:latin typeface="Segoe UI"/>
              </a:rPr>
              <a:t>twin_prog_d30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0" y="3730752"/>
            <a:ext cx="980574" cy="146304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27494" y="370332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B7F"/>
                </a:solidFill>
                <a:latin typeface="Segoe UI"/>
              </a:rPr>
              <a:t>0.16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3977640"/>
            <a:ext cx="31089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B2A3A"/>
                </a:solidFill>
                <a:latin typeface="Segoe UI"/>
              </a:rPr>
              <a:t>twin_ea1c_d90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01200" y="4005072"/>
            <a:ext cx="580040" cy="146304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26960" y="397764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B7F"/>
                </a:solidFill>
                <a:latin typeface="Segoe UI"/>
              </a:rPr>
              <a:t>0.10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3952" y="4251960"/>
            <a:ext cx="31089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B2A3A"/>
                </a:solidFill>
                <a:latin typeface="Segoe UI"/>
              </a:rPr>
              <a:t>glucose_mean_d30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01200" y="4279392"/>
            <a:ext cx="516541" cy="146304"/>
          </a:xfrm>
          <a:prstGeom prst="roundRect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63461" y="425196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B7F"/>
                </a:solidFill>
                <a:latin typeface="Segoe UI"/>
              </a:rPr>
              <a:t>0.08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3952" y="4526280"/>
            <a:ext cx="31089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B2A3A"/>
                </a:solidFill>
                <a:latin typeface="Segoe UI"/>
              </a:rPr>
              <a:t>family_hx_t2d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01200" y="4553712"/>
            <a:ext cx="357793" cy="146304"/>
          </a:xfrm>
          <a:prstGeom prst="roundRect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04713" y="45262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B7F"/>
                </a:solidFill>
                <a:latin typeface="Segoe UI"/>
              </a:rPr>
              <a:t>0.06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3952" y="4800600"/>
            <a:ext cx="31089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B2A3A"/>
                </a:solidFill>
                <a:latin typeface="Segoe UI"/>
              </a:rPr>
              <a:t>med_diet_adherence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01200" y="4828032"/>
            <a:ext cx="284525" cy="146304"/>
          </a:xfrm>
          <a:prstGeom prst="roundRect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31445" y="480060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B7F"/>
                </a:solidFill>
                <a:latin typeface="Segoe UI"/>
              </a:rPr>
              <a:t>0.05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3952" y="5074920"/>
            <a:ext cx="31089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B2A3A"/>
                </a:solidFill>
                <a:latin typeface="Segoe UI"/>
              </a:rPr>
              <a:t>twin_si_d30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601200" y="5102352"/>
            <a:ext cx="268039" cy="146304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14959" y="507492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B7F"/>
                </a:solidFill>
                <a:latin typeface="Segoe UI"/>
              </a:rPr>
              <a:t>0.04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73952" y="5349240"/>
            <a:ext cx="31089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1B2A3A"/>
                </a:solidFill>
                <a:latin typeface="Segoe UI"/>
              </a:rPr>
              <a:t>bmi_kg_m2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01200" y="5376672"/>
            <a:ext cx="217362" cy="146304"/>
          </a:xfrm>
          <a:prstGeom prst="roundRect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64282" y="534924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B6B7F"/>
                </a:solidFill>
                <a:latin typeface="Segoe UI"/>
              </a:rPr>
              <a:t>0.04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73952" y="5678424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B7F"/>
                </a:solidFill>
                <a:latin typeface="Segoe UI"/>
              </a:rPr>
              <a:t>teal = twin-derived latent features · blue = EHR/wearable raw features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01168"/>
            <a:ext cx="11640312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9184"/>
            <a:ext cx="713232" cy="713232"/>
          </a:xfrm>
          <a:prstGeom prst="roundRect">
            <a:avLst>
              <a:gd name="adj" fmla="val 25000"/>
            </a:avLst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/>
              <a:t>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10896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4335C"/>
                </a:solidFill>
                <a:latin typeface="Segoe UI"/>
              </a:rPr>
              <a:t>What-If </a:t>
            </a:r>
          </a:p>
          <a:p>
            <a:pPr algn="l">
              <a:spcAft>
                <a:spcPts val="0"/>
              </a:spcAft>
            </a:pPr>
            <a:r>
              <a:rPr sz="2600" b="1">
                <a:solidFill>
                  <a:srgbClr val="2E6BE6"/>
                </a:solidFill>
                <a:latin typeface="Segoe UI"/>
              </a:rPr>
              <a:t>Counselling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786384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B7F"/>
                </a:solidFill>
                <a:latin typeface="Segoe UI"/>
              </a:rPr>
              <a:t>Simulate the intervention before you prescribe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310896"/>
            <a:ext cx="3566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>
                <a:solidFill>
                  <a:srgbClr val="1B2A3A"/>
                </a:solidFill>
                <a:latin typeface="Segoe UI"/>
              </a:rPr>
              <a:t>For every patient the twin rolls four 90-day futures: status quo, +3,500 steps/day, adherence +30% (diet + meds), and the combined plan. Counselling becomes a choice between simulated futures.</a:t>
            </a:r>
          </a:p>
        </p:txBody>
      </p:sp>
      <p:sp>
        <p:nvSpPr>
          <p:cNvPr id="7" name="Oval 6"/>
          <p:cNvSpPr/>
          <p:nvPr/>
        </p:nvSpPr>
        <p:spPr>
          <a:xfrm>
            <a:off x="9372600" y="301752"/>
            <a:ext cx="274320" cy="274320"/>
          </a:xfrm>
          <a:prstGeom prst="ellipse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" b="1">
                <a:solidFill>
                  <a:srgbClr val="2E6BE6"/>
                </a:solidFill>
                <a:latin typeface="Segoe UI"/>
              </a:rPr>
              <a:t>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2743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335C"/>
                </a:solidFill>
                <a:latin typeface="Segoe UI"/>
              </a:rPr>
              <a:t>4 scenarios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Segoe UI"/>
              </a:rPr>
              <a:t>per patient, per visit</a:t>
            </a:r>
          </a:p>
        </p:txBody>
      </p:sp>
      <p:sp>
        <p:nvSpPr>
          <p:cNvPr id="9" name="Oval 8"/>
          <p:cNvSpPr/>
          <p:nvPr/>
        </p:nvSpPr>
        <p:spPr>
          <a:xfrm>
            <a:off x="9372600" y="594360"/>
            <a:ext cx="274320" cy="274320"/>
          </a:xfrm>
          <a:prstGeom prst="ellipse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" b="1">
                <a:solidFill>
                  <a:srgbClr val="2E6BE6"/>
                </a:solidFill>
                <a:latin typeface="Segoe UI"/>
              </a:rPr>
              <a:t>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60" y="56692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335C"/>
                </a:solidFill>
                <a:latin typeface="Segoe UI"/>
              </a:rPr>
              <a:t>eA1c &amp; TIR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Segoe UI"/>
              </a:rPr>
              <a:t>clinically familiar read-outs</a:t>
            </a:r>
          </a:p>
        </p:txBody>
      </p:sp>
      <p:sp>
        <p:nvSpPr>
          <p:cNvPr id="11" name="Oval 10"/>
          <p:cNvSpPr/>
          <p:nvPr/>
        </p:nvSpPr>
        <p:spPr>
          <a:xfrm>
            <a:off x="9372600" y="886968"/>
            <a:ext cx="274320" cy="274320"/>
          </a:xfrm>
          <a:prstGeom prst="ellipse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" b="1">
                <a:solidFill>
                  <a:srgbClr val="2E6BE6"/>
                </a:solidFill>
                <a:latin typeface="Segoe UI"/>
              </a:rPr>
              <a:t>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859536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335C"/>
                </a:solidFill>
                <a:latin typeface="Segoe UI"/>
              </a:rPr>
              <a:t>One sentence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Segoe UI"/>
              </a:rPr>
              <a:t>the patient actually understands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481328"/>
            <a:ext cx="667512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627632"/>
            <a:ext cx="6217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4335C"/>
                </a:solidFill>
                <a:latin typeface="Segoe UI"/>
              </a:rPr>
              <a:t>Simulated 90-day futures - patient GT-129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31520" y="2011680"/>
          <a:ext cx="7040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554480"/>
                <a:gridCol w="1554480"/>
                <a:gridCol w="1554480"/>
              </a:tblGrid>
              <a:tr h="475488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433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eA1c day-90</a:t>
                      </a:r>
                    </a:p>
                  </a:txBody>
                  <a:tcPr>
                    <a:solidFill>
                      <a:srgbClr val="1433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TIR %</a:t>
                      </a:r>
                    </a:p>
                  </a:txBody>
                  <a:tcPr>
                    <a:solidFill>
                      <a:srgbClr val="1433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vs status quo</a:t>
                      </a:r>
                    </a:p>
                  </a:txBody>
                  <a:tcPr>
                    <a:solidFill>
                      <a:srgbClr val="1433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2A3A"/>
                          </a:solidFill>
                          <a:latin typeface="Segoe UI"/>
                        </a:defRPr>
                      </a:pPr>
                      <a:r>
                        <a:t>Status quo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B2A3A"/>
                          </a:solidFill>
                          <a:latin typeface="Segoe UI"/>
                        </a:defRPr>
                      </a:pPr>
                      <a:r>
                        <a:t>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2A3A"/>
                          </a:solidFill>
                          <a:latin typeface="Segoe UI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2A3A"/>
                          </a:solidFill>
                          <a:latin typeface="Segoe UI"/>
                        </a:defRPr>
                      </a:pPr>
                      <a:r>
                        <a:t>+0.0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2A3A"/>
                          </a:solidFill>
                          <a:latin typeface="Segoe UI"/>
                        </a:defRPr>
                      </a:pPr>
                      <a:r>
                        <a:t>+3,500 steps/day</a:t>
                      </a:r>
                    </a:p>
                  </a:txBody>
                  <a:tcPr>
                    <a:solidFill>
                      <a:srgbClr val="EAF1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B2A3A"/>
                          </a:solidFill>
                          <a:latin typeface="Segoe UI"/>
                        </a:defRPr>
                      </a:pPr>
                      <a:r>
                        <a:t>8.5%</a:t>
                      </a:r>
                    </a:p>
                  </a:txBody>
                  <a:tcPr>
                    <a:solidFill>
                      <a:srgbClr val="EAF1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2A3A"/>
                          </a:solidFill>
                          <a:latin typeface="Segoe UI"/>
                        </a:defRPr>
                      </a:pPr>
                      <a:r>
                        <a:t>54%</a:t>
                      </a:r>
                    </a:p>
                  </a:txBody>
                  <a:tcPr>
                    <a:solidFill>
                      <a:srgbClr val="EAF1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87C46"/>
                          </a:solidFill>
                          <a:latin typeface="Segoe UI"/>
                        </a:defRPr>
                      </a:pPr>
                      <a:r>
                        <a:t>-0.3 pp</a:t>
                      </a:r>
                    </a:p>
                  </a:txBody>
                  <a:tcPr>
                    <a:solidFill>
                      <a:srgbClr val="EAF1F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2A3A"/>
                          </a:solidFill>
                          <a:latin typeface="Segoe UI"/>
                        </a:defRPr>
                      </a:pPr>
                      <a:r>
                        <a:t>Adherence +30%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B2A3A"/>
                          </a:solidFill>
                          <a:latin typeface="Segoe UI"/>
                        </a:defRPr>
                      </a:pPr>
                      <a:r>
                        <a:t>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2A3A"/>
                          </a:solidFill>
                          <a:latin typeface="Segoe UI"/>
                        </a:defRPr>
                      </a:pPr>
                      <a:r>
                        <a:t>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87C46"/>
                          </a:solidFill>
                          <a:latin typeface="Segoe UI"/>
                        </a:defRPr>
                      </a:pPr>
                      <a:r>
                        <a:t>-0.5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2A3A"/>
                          </a:solidFill>
                          <a:latin typeface="Segoe UI"/>
                        </a:defRPr>
                      </a:pPr>
                      <a:r>
                        <a:t>Combined plan</a:t>
                      </a:r>
                    </a:p>
                  </a:txBody>
                  <a:tcPr>
                    <a:solidFill>
                      <a:srgbClr val="EAF1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B2A3A"/>
                          </a:solidFill>
                          <a:latin typeface="Segoe UI"/>
                        </a:defRPr>
                      </a:pPr>
                      <a:r>
                        <a:t>8.1%</a:t>
                      </a:r>
                    </a:p>
                  </a:txBody>
                  <a:tcPr>
                    <a:solidFill>
                      <a:srgbClr val="EAF1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B2A3A"/>
                          </a:solidFill>
                          <a:latin typeface="Segoe UI"/>
                        </a:defRPr>
                      </a:pPr>
                      <a:r>
                        <a:t>76%</a:t>
                      </a:r>
                    </a:p>
                  </a:txBody>
                  <a:tcPr>
                    <a:solidFill>
                      <a:srgbClr val="EAF1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87C46"/>
                          </a:solidFill>
                          <a:latin typeface="Segoe UI"/>
                        </a:defRPr>
                      </a:pPr>
                      <a:r>
                        <a:t>-0.7 pp</a:t>
                      </a:r>
                    </a:p>
                  </a:txBody>
                  <a:tcPr>
                    <a:solidFill>
                      <a:srgbClr val="EAF1FE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731520" y="457200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>
                <a:solidFill>
                  <a:srgbClr val="5B6B7F"/>
                </a:solidFill>
                <a:latin typeface="Segoe UI"/>
              </a:rPr>
              <a:t>TIR = forecast fraction of days with mean glucose 70-180 mg/dL · eA1c = (mean G + 46.7)/28.7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1481328"/>
            <a:ext cx="4343400" cy="3657600"/>
          </a:xfrm>
          <a:prstGeom prst="roundRect">
            <a:avLst>
              <a:gd name="adj" fmla="val 6000"/>
            </a:avLst>
          </a:prstGeom>
          <a:solidFill>
            <a:srgbClr val="EAF1FE"/>
          </a:solidFill>
          <a:ln w="1270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1691640"/>
            <a:ext cx="38862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300" b="1">
                <a:solidFill>
                  <a:srgbClr val="14335C"/>
                </a:solidFill>
                <a:latin typeface="Segoe UI"/>
              </a:rPr>
              <a:t>The sentence that wins the jury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600" b="0">
                <a:solidFill>
                  <a:srgbClr val="1B2A3A"/>
                </a:solidFill>
                <a:latin typeface="Segoe UI"/>
              </a:rPr>
              <a:t/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00" b="0">
                <a:solidFill>
                  <a:srgbClr val="1B2A3A"/>
                </a:solidFill>
                <a:latin typeface="Segoe UI"/>
              </a:rPr>
              <a:t>“If nothing changes, your sugar average crosses 180 around day 70. If we add 3,500 steps and tighten your diet &amp; meds adherence by 30%, your forecast HbA1c falls from 8.8% to 8.1% and you stay in range 76% of days.”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600" b="0">
                <a:solidFill>
                  <a:srgbClr val="1B2A3A"/>
                </a:solidFill>
                <a:latin typeface="Segoe UI"/>
              </a:rPr>
              <a:t/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000" b="0">
                <a:solidFill>
                  <a:srgbClr val="5B6B7F"/>
                </a:solidFill>
                <a:latin typeface="Segoe UI"/>
              </a:rPr>
              <a:t>Personalised, simulated, and honest about uncertainty - the difference between a risk score and a digital twin.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349240"/>
            <a:ext cx="2724912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5495544"/>
            <a:ext cx="24505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87C46"/>
                </a:solidFill>
                <a:latin typeface="Segoe UI"/>
              </a:rPr>
              <a:t>0.7 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6007608"/>
            <a:ext cx="23957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5B6B7F"/>
                </a:solidFill>
                <a:latin typeface="Segoe UI"/>
              </a:rPr>
              <a:t>eA1c reduction unlocked by the combined plan (this patient)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55848" y="5349240"/>
            <a:ext cx="2724912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5495544"/>
            <a:ext cx="24505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2E6BE6"/>
                </a:solidFill>
                <a:latin typeface="Segoe UI"/>
              </a:rPr>
              <a:t>33 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6007608"/>
            <a:ext cx="23957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5B6B7F"/>
                </a:solidFill>
                <a:latin typeface="Segoe UI"/>
              </a:rPr>
              <a:t>time-in-range gain - from 90 simulated days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8776" y="5349240"/>
            <a:ext cx="2724912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5495544"/>
            <a:ext cx="24505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7C3AED"/>
                </a:solidFill>
                <a:latin typeface="Segoe UI"/>
              </a:rPr>
              <a:t>&lt;1 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6007608"/>
            <a:ext cx="23957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5B6B7F"/>
                </a:solidFill>
                <a:latin typeface="Segoe UI"/>
              </a:rPr>
              <a:t>to simulate all four scenarios on a laptop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61704" y="5349240"/>
            <a:ext cx="2724912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26296" y="5495544"/>
            <a:ext cx="24505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14335C"/>
                </a:solidFill>
                <a:latin typeface="Segoe UI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6007608"/>
            <a:ext cx="239572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50" b="0">
                <a:solidFill>
                  <a:srgbClr val="5B6B7F"/>
                </a:solidFill>
                <a:latin typeface="Segoe UI"/>
              </a:rPr>
              <a:t>extra devices needed - works with any smartwatch + CGM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01168"/>
            <a:ext cx="11640312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9184"/>
            <a:ext cx="713232" cy="713232"/>
          </a:xfrm>
          <a:prstGeom prst="roundRect">
            <a:avLst>
              <a:gd name="adj" fmla="val 25000"/>
            </a:avLst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/>
              <a:t>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10896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4335C"/>
                </a:solidFill>
                <a:latin typeface="Segoe UI"/>
              </a:rPr>
              <a:t>India </a:t>
            </a:r>
          </a:p>
          <a:p>
            <a:pPr algn="l">
              <a:spcAft>
                <a:spcPts val="0"/>
              </a:spcAft>
            </a:pPr>
            <a:r>
              <a:rPr sz="2600" b="1">
                <a:solidFill>
                  <a:srgbClr val="2E6BE6"/>
                </a:solidFill>
                <a:latin typeface="Segoe UI"/>
              </a:rPr>
              <a:t>Scale-Up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786384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B7F"/>
                </a:solidFill>
                <a:latin typeface="Segoe UI"/>
              </a:rPr>
              <a:t>From PoC to pilot: rails, devices, unit 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310896"/>
            <a:ext cx="3566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>
                <a:solidFill>
                  <a:srgbClr val="1B2A3A"/>
                </a:solidFill>
                <a:latin typeface="Segoe UI"/>
              </a:rPr>
              <a:t>The twin plugs into rails India already builds - ABDM health IDs, NDHM data standards, and a smartwatch/CGM market heading to mass affordability - so the marginal cost per patient is computation, not infrastructure.</a:t>
            </a:r>
          </a:p>
        </p:txBody>
      </p:sp>
      <p:sp>
        <p:nvSpPr>
          <p:cNvPr id="7" name="Oval 6"/>
          <p:cNvSpPr/>
          <p:nvPr/>
        </p:nvSpPr>
        <p:spPr>
          <a:xfrm>
            <a:off x="9372600" y="301752"/>
            <a:ext cx="274320" cy="274320"/>
          </a:xfrm>
          <a:prstGeom prst="ellipse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" b="1">
                <a:solidFill>
                  <a:srgbClr val="2E6BE6"/>
                </a:solidFill>
                <a:latin typeface="Segoe UI"/>
              </a:rPr>
              <a:t>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2743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335C"/>
                </a:solidFill>
                <a:latin typeface="Segoe UI"/>
              </a:rPr>
              <a:t>ABDM-ready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Segoe UI"/>
              </a:rPr>
              <a:t>FHIR/NDHM data standards</a:t>
            </a:r>
          </a:p>
        </p:txBody>
      </p:sp>
      <p:sp>
        <p:nvSpPr>
          <p:cNvPr id="9" name="Oval 8"/>
          <p:cNvSpPr/>
          <p:nvPr/>
        </p:nvSpPr>
        <p:spPr>
          <a:xfrm>
            <a:off x="9372600" y="594360"/>
            <a:ext cx="274320" cy="274320"/>
          </a:xfrm>
          <a:prstGeom prst="ellipse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" b="1">
                <a:solidFill>
                  <a:srgbClr val="2E6BE6"/>
                </a:solidFill>
                <a:latin typeface="Segoe UI"/>
              </a:rPr>
              <a:t>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60" y="56692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335C"/>
                </a:solidFill>
                <a:latin typeface="Segoe UI"/>
              </a:rPr>
              <a:t>Device-agnostic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Segoe UI"/>
              </a:rPr>
              <a:t>any CGM + smartwatch stream</a:t>
            </a:r>
          </a:p>
        </p:txBody>
      </p:sp>
      <p:sp>
        <p:nvSpPr>
          <p:cNvPr id="11" name="Oval 10"/>
          <p:cNvSpPr/>
          <p:nvPr/>
        </p:nvSpPr>
        <p:spPr>
          <a:xfrm>
            <a:off x="9372600" y="886968"/>
            <a:ext cx="274320" cy="274320"/>
          </a:xfrm>
          <a:prstGeom prst="ellipse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" b="1">
                <a:solidFill>
                  <a:srgbClr val="2E6BE6"/>
                </a:solidFill>
                <a:latin typeface="Segoe UI"/>
              </a:rPr>
              <a:t>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859536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335C"/>
                </a:solidFill>
                <a:latin typeface="Segoe UI"/>
              </a:rPr>
              <a:t>Cheap to run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Segoe UI"/>
              </a:rPr>
              <a:t>CPU-only, &lt;1 s per patient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481328"/>
            <a:ext cx="3639312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9224" y="1627632"/>
            <a:ext cx="1554480" cy="219456"/>
          </a:xfrm>
          <a:prstGeom prst="roundRect">
            <a:avLst>
              <a:gd name="adj" fmla="val 50000"/>
            </a:avLst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INTEGRATION RAILS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1975104"/>
            <a:ext cx="32918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1B2A3A"/>
                </a:solidFill>
                <a:latin typeface="Segoe UI"/>
              </a:rPr>
              <a:t>• ABDM Health ID as patient key; EHR via FHIR/NDHM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1B2A3A"/>
                </a:solidFill>
                <a:latin typeface="Segoe UI"/>
              </a:rPr>
              <a:t>• Wearable ingest: CGM + steps + sleep + HR (daily batch)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1B2A3A"/>
                </a:solidFill>
                <a:latin typeface="Segoe UI"/>
              </a:rPr>
              <a:t>• Alerts routed to clinic queue &amp; patient app (vernacular)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0248" y="1481328"/>
            <a:ext cx="3639312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16552" y="1627632"/>
            <a:ext cx="1554480" cy="21945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DEVICES &amp;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1975104"/>
            <a:ext cx="32918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1B2A3A"/>
                </a:solidFill>
                <a:latin typeface="Segoe UI"/>
              </a:rPr>
              <a:t>• Low-cost CGM (~₹2-3k/month) + ₹2k smartwatch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1B2A3A"/>
                </a:solidFill>
                <a:latin typeface="Segoe UI"/>
              </a:rPr>
              <a:t>• Fallback: phone-only steps + lab EHR (degraded twin)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1B2A3A"/>
                </a:solidFill>
                <a:latin typeface="Segoe UI"/>
              </a:rPr>
              <a:t>• Synthetic→real transfer: recalibrate priors per clinic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7576" y="1481328"/>
            <a:ext cx="3639312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83880" y="1627632"/>
            <a:ext cx="1554480" cy="219456"/>
          </a:xfrm>
          <a:prstGeom prst="roundRect">
            <a:avLst>
              <a:gd name="adj" fmla="val 50000"/>
            </a:avLst>
          </a:prstGeom>
          <a:solidFill>
            <a:srgbClr val="187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UNIT ECONOMICS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1975104"/>
            <a:ext cx="32918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1B2A3A"/>
                </a:solidFill>
                <a:latin typeface="Segoe UI"/>
              </a:rPr>
              <a:t>• Compute: &lt;₹1 per patient-month (CPU inference)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1B2A3A"/>
                </a:solidFill>
                <a:latin typeface="Segoe UI"/>
              </a:rPr>
              <a:t>• Value: one avoided complication ≫ years of twin cost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1B2A3A"/>
                </a:solidFill>
                <a:latin typeface="Segoe UI"/>
              </a:rPr>
              <a:t>• Model: B2B2C via incubator hospital + insurer wellness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977639"/>
            <a:ext cx="11201400" cy="2468880"/>
          </a:xfrm>
          <a:prstGeom prst="roundRect">
            <a:avLst>
              <a:gd name="adj" fmla="val 6000"/>
            </a:avLst>
          </a:prstGeom>
          <a:solidFill>
            <a:srgbClr val="EAF1FE"/>
          </a:solidFill>
          <a:ln w="1270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160520"/>
            <a:ext cx="106070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14335C"/>
                </a:solidFill>
                <a:latin typeface="Segoe UI"/>
              </a:rPr>
              <a:t>Proposed Phase-2 pilot (with incubator hospital partner)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400" b="0">
                <a:solidFill>
                  <a:srgbClr val="1B2A3A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1B2A3A"/>
                </a:solidFill>
                <a:latin typeface="Segoe UI"/>
              </a:rPr>
              <a:t>• n = 200 T2D patients, 6 months, single arm vs matched standard-care cohort.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1B2A3A"/>
                </a:solidFill>
                <a:latin typeface="Segoe UI"/>
              </a:rPr>
              <a:t>• Primary endpoint: lead time of twin alert vs HbA1c-based detection of deterioration.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1B2A3A"/>
                </a:solidFill>
                <a:latin typeface="Segoe UI"/>
              </a:rPr>
              <a:t>• Secondary: eA1c change, TIR change, counselling adherence, clinician trust score.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1B2A3A"/>
                </a:solidFill>
                <a:latin typeface="Segoe UI"/>
              </a:rPr>
              <a:t>• Pre-registered analysis + fairness slices (age, sex, urban/rural) published with results.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400" b="0">
                <a:solidFill>
                  <a:srgbClr val="1B2A3A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1">
                <a:solidFill>
                  <a:srgbClr val="2E6BE6"/>
                </a:solidFill>
                <a:latin typeface="Segoe UI"/>
              </a:rPr>
              <a:t>Our ask: shortlist + intro to one pilot site &amp; one CGM partner. We bring the twin, the code and the team.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01168"/>
            <a:ext cx="11640312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9184"/>
            <a:ext cx="713232" cy="713232"/>
          </a:xfrm>
          <a:prstGeom prst="roundRect">
            <a:avLst>
              <a:gd name="adj" fmla="val 25000"/>
            </a:avLst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/>
              <a:t>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10896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4335C"/>
                </a:solidFill>
                <a:latin typeface="Segoe UI"/>
              </a:rPr>
              <a:t>Ethics, Limits </a:t>
            </a:r>
          </a:p>
          <a:p>
            <a:pPr algn="l">
              <a:spcAft>
                <a:spcPts val="0"/>
              </a:spcAft>
            </a:pPr>
            <a:r>
              <a:rPr sz="2600" b="1">
                <a:solidFill>
                  <a:srgbClr val="2E6BE6"/>
                </a:solidFill>
                <a:latin typeface="Segoe UI"/>
              </a:rPr>
              <a:t>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786384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B7F"/>
                </a:solidFill>
                <a:latin typeface="Segoe UI"/>
              </a:rPr>
              <a:t>What a PoC can and cannot claim - stated openly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310896"/>
            <a:ext cx="3566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>
                <a:solidFill>
                  <a:srgbClr val="1B2A3A"/>
                </a:solidFill>
                <a:latin typeface="Segoe UI"/>
              </a:rPr>
              <a:t>Synthetic data validates the pipeline, not clinical efficacy. The twin is decision support for counselling - never a diagnosis, never a device. Privacy is structural: zero PHI ships with the repo.</a:t>
            </a:r>
          </a:p>
        </p:txBody>
      </p:sp>
      <p:sp>
        <p:nvSpPr>
          <p:cNvPr id="7" name="Oval 6"/>
          <p:cNvSpPr/>
          <p:nvPr/>
        </p:nvSpPr>
        <p:spPr>
          <a:xfrm>
            <a:off x="9372600" y="301752"/>
            <a:ext cx="274320" cy="274320"/>
          </a:xfrm>
          <a:prstGeom prst="ellipse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" b="1">
                <a:solidFill>
                  <a:srgbClr val="2E6BE6"/>
                </a:solidFill>
                <a:latin typeface="Segoe UI"/>
              </a:rPr>
              <a:t>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2743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335C"/>
                </a:solidFill>
                <a:latin typeface="Segoe UI"/>
              </a:rPr>
              <a:t>Zero PHI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Segoe UI"/>
              </a:rPr>
              <a:t>synthetic generator published</a:t>
            </a:r>
          </a:p>
        </p:txBody>
      </p:sp>
      <p:sp>
        <p:nvSpPr>
          <p:cNvPr id="9" name="Oval 8"/>
          <p:cNvSpPr/>
          <p:nvPr/>
        </p:nvSpPr>
        <p:spPr>
          <a:xfrm>
            <a:off x="9372600" y="594360"/>
            <a:ext cx="274320" cy="274320"/>
          </a:xfrm>
          <a:prstGeom prst="ellipse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" b="1">
                <a:solidFill>
                  <a:srgbClr val="2E6BE6"/>
                </a:solidFill>
                <a:latin typeface="Segoe UI"/>
              </a:rPr>
              <a:t>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60" y="56692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335C"/>
                </a:solidFill>
                <a:latin typeface="Segoe UI"/>
              </a:rPr>
              <a:t>Fairness plan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Segoe UI"/>
              </a:rPr>
              <a:t>slices pre-registered</a:t>
            </a:r>
          </a:p>
        </p:txBody>
      </p:sp>
      <p:sp>
        <p:nvSpPr>
          <p:cNvPr id="11" name="Oval 10"/>
          <p:cNvSpPr/>
          <p:nvPr/>
        </p:nvSpPr>
        <p:spPr>
          <a:xfrm>
            <a:off x="9372600" y="886968"/>
            <a:ext cx="274320" cy="274320"/>
          </a:xfrm>
          <a:prstGeom prst="ellipse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" b="1">
                <a:solidFill>
                  <a:srgbClr val="2E6BE6"/>
                </a:solidFill>
                <a:latin typeface="Segoe UI"/>
              </a:rPr>
              <a:t>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859536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335C"/>
                </a:solidFill>
                <a:latin typeface="Segoe UI"/>
              </a:rPr>
              <a:t>Support only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Segoe UI"/>
              </a:rPr>
              <a:t>clinician stays in loop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481328"/>
            <a:ext cx="548640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645920"/>
            <a:ext cx="502920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>
                <a:solidFill>
                  <a:srgbClr val="14335C"/>
                </a:solidFill>
                <a:latin typeface="Segoe UI"/>
              </a:rPr>
              <a:t>Ethics &amp; privacy by design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400" b="0">
                <a:solidFill>
                  <a:srgbClr val="1B2A3A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0">
                <a:solidFill>
                  <a:srgbClr val="1B2A3A"/>
                </a:solidFill>
                <a:latin typeface="Segoe UI"/>
              </a:rPr>
              <a:t>• No real patient data anywhere in the public repo - the generator is the audit trail.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0">
                <a:solidFill>
                  <a:srgbClr val="1B2A3A"/>
                </a:solidFill>
                <a:latin typeface="Segoe UI"/>
              </a:rPr>
              <a:t>• MIT licence; every link public, no sign-in, no permissions (submission requirement).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0">
                <a:solidFill>
                  <a:srgbClr val="1B2A3A"/>
                </a:solidFill>
                <a:latin typeface="Segoe UI"/>
              </a:rPr>
              <a:t>• DPDP Act 2023 alignment: purpose limitation, no PHI, consent-ready architecture.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0">
                <a:solidFill>
                  <a:srgbClr val="1B2A3A"/>
                </a:solidFill>
                <a:latin typeface="Segoe UI"/>
              </a:rPr>
              <a:t>• Alerts are advisory; clinician confirmation mandatory before any action.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81328"/>
            <a:ext cx="553212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645920"/>
            <a:ext cx="50749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>
                <a:solidFill>
                  <a:srgbClr val="C0392B"/>
                </a:solidFill>
                <a:latin typeface="Segoe UI"/>
              </a:rPr>
              <a:t>Limitations we own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400" b="0">
                <a:solidFill>
                  <a:srgbClr val="1B2A3A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0">
                <a:solidFill>
                  <a:srgbClr val="1B2A3A"/>
                </a:solidFill>
                <a:latin typeface="Segoe UI"/>
              </a:rPr>
              <a:t>• Synthetic cohort - effect sizes validate engineering, not efficacy.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0">
                <a:solidFill>
                  <a:srgbClr val="1B2A3A"/>
                </a:solidFill>
                <a:latin typeface="Segoe UI"/>
              </a:rPr>
              <a:t>• Daily resolution vs 5-min real CGM; simplified Bergman physiology.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0">
                <a:solidFill>
                  <a:srgbClr val="1B2A3A"/>
                </a:solidFill>
                <a:latin typeface="Segoe UI"/>
              </a:rPr>
              <a:t>• Single outcome; no medication-titration logic yet.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0">
                <a:solidFill>
                  <a:srgbClr val="1B2A3A"/>
                </a:solidFill>
                <a:latin typeface="Segoe UI"/>
              </a:rPr>
              <a:t>• Fairness slices (age/sex/urban-rural) are roadmap, not results.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52628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" y="4663440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4983480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1B2A3A"/>
                </a:solidFill>
                <a:latin typeface="Segoe UI"/>
              </a:rPr>
              <a:t>Phase-1 PoC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1B2A3A"/>
                </a:solidFill>
                <a:latin typeface="Segoe UI"/>
              </a:rPr>
              <a:t>this submission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46120" y="5212080"/>
            <a:ext cx="109728" cy="0"/>
          </a:xfrm>
          <a:prstGeom prst="line">
            <a:avLst/>
          </a:prstGeom>
          <a:ln w="20320">
            <a:solidFill>
              <a:srgbClr val="8A97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364992" y="452628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11296" y="4663440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+6 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9584" y="4983480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1B2A3A"/>
                </a:solidFill>
                <a:latin typeface="Segoe UI"/>
              </a:rPr>
              <a:t>Phase-2 pilot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1B2A3A"/>
                </a:solidFill>
                <a:latin typeface="Segoe UI"/>
              </a:rPr>
              <a:t>200 patients, 1 site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108192" y="5212080"/>
            <a:ext cx="109728" cy="0"/>
          </a:xfrm>
          <a:prstGeom prst="line">
            <a:avLst/>
          </a:prstGeom>
          <a:ln w="20320">
            <a:solidFill>
              <a:srgbClr val="8A97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27064" y="452628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73368" y="4663440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+18 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656" y="4983480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1B2A3A"/>
                </a:solidFill>
                <a:latin typeface="Segoe UI"/>
              </a:rPr>
              <a:t>Phase-3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1B2A3A"/>
                </a:solidFill>
                <a:latin typeface="Segoe UI"/>
              </a:rPr>
              <a:t>5-min CGM + med titration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970264" y="5212080"/>
            <a:ext cx="109728" cy="0"/>
          </a:xfrm>
          <a:prstGeom prst="line">
            <a:avLst/>
          </a:prstGeom>
          <a:ln w="20320">
            <a:solidFill>
              <a:srgbClr val="8A97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089136" y="4526280"/>
            <a:ext cx="26974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235440" y="4663440"/>
            <a:ext cx="868680" cy="219456"/>
          </a:xfrm>
          <a:prstGeom prst="roundRect">
            <a:avLst>
              <a:gd name="adj" fmla="val 50000"/>
            </a:avLst>
          </a:prstGeom>
          <a:solidFill>
            <a:srgbClr val="187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+36 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3728" y="4983480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1B2A3A"/>
                </a:solidFill>
                <a:latin typeface="Segoe UI"/>
              </a:rPr>
              <a:t>Phase-4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1B2A3A"/>
                </a:solidFill>
                <a:latin typeface="Segoe UI"/>
              </a:rPr>
              <a:t>prospective RCT vs standard care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08076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B7F"/>
                </a:solidFill>
                <a:latin typeface="Segoe UI"/>
              </a:rPr>
              <a:t>Each phase gate publishes metrics + fairness slices before scaling - evidence first, expansion second.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201168"/>
            <a:ext cx="11640312" cy="9692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9184"/>
            <a:ext cx="713232" cy="713232"/>
          </a:xfrm>
          <a:prstGeom prst="roundRect">
            <a:avLst>
              <a:gd name="adj" fmla="val 25000"/>
            </a:avLst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/>
              <a:t>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10896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4335C"/>
                </a:solidFill>
                <a:latin typeface="Segoe UI"/>
              </a:rPr>
              <a:t>Jury Q&amp;A </a:t>
            </a:r>
          </a:p>
          <a:p>
            <a:pPr algn="l">
              <a:spcAft>
                <a:spcPts val="0"/>
              </a:spcAft>
            </a:pPr>
            <a:r>
              <a:rPr sz="2600" b="1">
                <a:solidFill>
                  <a:srgbClr val="2E6BE6"/>
                </a:solidFill>
                <a:latin typeface="Segoe UI"/>
              </a:rPr>
              <a:t>&amp;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786384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B7F"/>
                </a:solidFill>
                <a:latin typeface="Segoe UI"/>
              </a:rPr>
              <a:t>The six questions we expect - and our one-line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310896"/>
            <a:ext cx="3566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>
                <a:solidFill>
                  <a:srgbClr val="1B2A3A"/>
                </a:solidFill>
                <a:latin typeface="Segoe UI"/>
              </a:rPr>
              <a:t>Everything is in the public repo: code, tests, metrics, decks, Power BI pack and the unlisted demo video. We are ready for the live demo.</a:t>
            </a:r>
          </a:p>
        </p:txBody>
      </p:sp>
      <p:sp>
        <p:nvSpPr>
          <p:cNvPr id="7" name="Oval 6"/>
          <p:cNvSpPr/>
          <p:nvPr/>
        </p:nvSpPr>
        <p:spPr>
          <a:xfrm>
            <a:off x="9372600" y="301752"/>
            <a:ext cx="274320" cy="274320"/>
          </a:xfrm>
          <a:prstGeom prst="ellipse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" b="1">
                <a:solidFill>
                  <a:srgbClr val="2E6BE6"/>
                </a:solidFill>
                <a:latin typeface="Segoe UI"/>
              </a:rPr>
              <a:t>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27432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335C"/>
                </a:solidFill>
                <a:latin typeface="Segoe UI"/>
              </a:rPr>
              <a:t>Prepared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Segoe UI"/>
              </a:rPr>
              <a:t>6 hardest questions answered</a:t>
            </a:r>
          </a:p>
        </p:txBody>
      </p:sp>
      <p:sp>
        <p:nvSpPr>
          <p:cNvPr id="9" name="Oval 8"/>
          <p:cNvSpPr/>
          <p:nvPr/>
        </p:nvSpPr>
        <p:spPr>
          <a:xfrm>
            <a:off x="9372600" y="594360"/>
            <a:ext cx="274320" cy="274320"/>
          </a:xfrm>
          <a:prstGeom prst="ellipse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" b="1">
                <a:solidFill>
                  <a:srgbClr val="2E6BE6"/>
                </a:solidFill>
                <a:latin typeface="Segoe UI"/>
              </a:rPr>
              <a:t>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60" y="566928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335C"/>
                </a:solidFill>
                <a:latin typeface="Segoe UI"/>
              </a:rPr>
              <a:t>One repo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Segoe UI"/>
              </a:rPr>
              <a:t>code → decks → dashboard</a:t>
            </a:r>
          </a:p>
        </p:txBody>
      </p:sp>
      <p:sp>
        <p:nvSpPr>
          <p:cNvPr id="11" name="Oval 10"/>
          <p:cNvSpPr/>
          <p:nvPr/>
        </p:nvSpPr>
        <p:spPr>
          <a:xfrm>
            <a:off x="9372600" y="886968"/>
            <a:ext cx="274320" cy="274320"/>
          </a:xfrm>
          <a:prstGeom prst="ellipse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00" b="1">
                <a:solidFill>
                  <a:srgbClr val="2E6BE6"/>
                </a:solidFill>
                <a:latin typeface="Segoe UI"/>
              </a:rPr>
              <a:t>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38360" y="859536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335C"/>
                </a:solidFill>
                <a:latin typeface="Segoe UI"/>
              </a:rPr>
              <a:t>Thank you</a:t>
            </a:r>
          </a:p>
          <a:p>
            <a:pPr algn="l">
              <a:spcAft>
                <a:spcPts val="0"/>
              </a:spcAft>
            </a:pPr>
            <a:r>
              <a:rPr sz="850" b="0">
                <a:solidFill>
                  <a:srgbClr val="5B6B7F"/>
                </a:solidFill>
                <a:latin typeface="Segoe UI"/>
              </a:rPr>
              <a:t>Happiest Health &amp; the jury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481328"/>
            <a:ext cx="55321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1545336"/>
            <a:ext cx="5257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335C"/>
                </a:solidFill>
                <a:latin typeface="Segoe UI"/>
              </a:rPr>
              <a:t>Why not just use a risk score?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5B6B7F"/>
                </a:solidFill>
                <a:latin typeface="Segoe UI"/>
              </a:rPr>
              <a:t>The twin simulates futures; a score only ranks patients.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81328"/>
            <a:ext cx="55321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1545336"/>
            <a:ext cx="5257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335C"/>
                </a:solidFill>
                <a:latin typeface="Segoe UI"/>
              </a:rPr>
              <a:t>Is the data real?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5B6B7F"/>
                </a:solidFill>
                <a:latin typeface="Segoe UI"/>
              </a:rPr>
              <a:t>Synthetic by design (no PHI); pipeline validated end-to-end, pilot planned.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194560"/>
            <a:ext cx="55321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2258568"/>
            <a:ext cx="5257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335C"/>
                </a:solidFill>
                <a:latin typeface="Segoe UI"/>
              </a:rPr>
              <a:t>Does the ML beat simple baselines?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5B6B7F"/>
                </a:solidFill>
                <a:latin typeface="Segoe UI"/>
              </a:rPr>
              <a:t>Yes - and we ship the baselines: logreg &amp; persistence.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194560"/>
            <a:ext cx="55321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8504" y="2258568"/>
            <a:ext cx="5257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335C"/>
                </a:solidFill>
                <a:latin typeface="Segoe UI"/>
              </a:rPr>
              <a:t>Can clinicians trust the twin?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5B6B7F"/>
                </a:solidFill>
                <a:latin typeface="Segoe UI"/>
              </a:rPr>
              <a:t>150-line inspectable engine + calibrated probabilities + CV OOF.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907792"/>
            <a:ext cx="55321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2971800"/>
            <a:ext cx="5257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335C"/>
                </a:solidFill>
                <a:latin typeface="Segoe UI"/>
              </a:rPr>
              <a:t>What breaks first in reality?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5B6B7F"/>
                </a:solidFill>
                <a:latin typeface="Segoe UI"/>
              </a:rPr>
              <a:t>Adherence logging - hence degraded phone-only fallback mode.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2907792"/>
            <a:ext cx="553212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18504" y="2971800"/>
            <a:ext cx="5257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1">
                <a:solidFill>
                  <a:srgbClr val="14335C"/>
                </a:solidFill>
                <a:latin typeface="Segoe UI"/>
              </a:rPr>
              <a:t>Cost to run at national scale?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5B6B7F"/>
                </a:solidFill>
                <a:latin typeface="Segoe UI"/>
              </a:rPr>
              <a:t>&lt;₹1/patient-month compute; rails (ABDM) already exist.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749039"/>
            <a:ext cx="11201400" cy="2697480"/>
          </a:xfrm>
          <a:prstGeom prst="roundRect">
            <a:avLst>
              <a:gd name="adj" fmla="val 6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023360"/>
            <a:ext cx="104241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Predict the event. Simulate the alternative. Personalise the medicine.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600" b="0">
                <a:solidFill>
                  <a:srgbClr val="1B2A3A"/>
                </a:solidFill>
                <a:latin typeface="Segoe UI"/>
              </a:rPr>
              <a:t/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0">
                <a:solidFill>
                  <a:srgbClr val="8FB8F0"/>
                </a:solidFill>
                <a:latin typeface="Segoe UI"/>
              </a:rPr>
              <a:t>Repo: [GITHUB REPO URL]   ·   Demo video (unlisted): https://youtube.com/watch?v=[YOUTUBE_VIDEO_ID]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0">
                <a:solidFill>
                  <a:srgbClr val="C9DAF2"/>
                </a:solidFill>
                <a:latin typeface="Segoe UI"/>
              </a:rPr>
              <a:t>Team AarogyaTwin (DTU) - Sarthak · Shoury · Abhay  ·  Delhi Technological University · DTU-IIF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600" b="0">
                <a:solidFill>
                  <a:srgbClr val="1B2A3A"/>
                </a:solidFill>
                <a:latin typeface="Segoe UI"/>
              </a:rPr>
              <a:t/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Thank you, Happiest Health &amp; jury - we are ready for the live demo. 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